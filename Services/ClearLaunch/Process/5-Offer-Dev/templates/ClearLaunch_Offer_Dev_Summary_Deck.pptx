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718"/>
                </a:solidFill>
                <a:latin typeface="Calibri"/>
              </a:defRPr>
            </a:pPr>
            <a:r>
              <a:t>OFFER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731520" cy="2743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21718"/>
                </a:solidFill>
                <a:latin typeface="Calibri"/>
              </a:defRPr>
            </a:pPr>
            <a:r>
              <a:t>[Client Name]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2286000" cy="25400"/>
          </a:xfrm>
          <a:prstGeom prst="rect">
            <a:avLst/>
          </a:prstGeom>
          <a:solidFill>
            <a:srgbClr val="3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718"/>
                </a:solidFill>
                <a:latin typeface="Calibri"/>
              </a:defRPr>
            </a:pPr>
            <a:r>
              <a:t>ClearLaunch System  |  Step 5: Offer Development</a:t>
            </a:r>
            <a:br/>
            <a:r>
              <a:t>[Date]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Offer Dev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OFFER LADDER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90600"/>
            <a:ext cx="8046720" cy="990600"/>
          </a:xfrm>
          <a:prstGeom prst="roundRect">
            <a:avLst/>
          </a:prstGeom>
          <a:solidFill>
            <a:srgbClr val="E5F5EC"/>
          </a:solidFill>
          <a:ln w="12700">
            <a:solidFill>
              <a:srgbClr val="1B9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16000"/>
            <a:ext cx="50800" cy="939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140" y="1117600"/>
            <a:ext cx="381000" cy="2540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9040" y="1117600"/>
            <a:ext cx="7208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9B5E"/>
                </a:solidFill>
                <a:latin typeface="Calibri"/>
              </a:defRPr>
            </a:pPr>
            <a:r>
              <a:t>CORE OFFER (Full Engagement)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9040" y="1422400"/>
            <a:ext cx="720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[Primary revenue driver — retainer, subscription, full project scope, multi-year contract. The natural destination of the ladder.]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8046720" cy="990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82800"/>
            <a:ext cx="50800" cy="939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9140" y="2184400"/>
            <a:ext cx="381000" cy="2540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040" y="2184400"/>
            <a:ext cx="7208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9B5E"/>
                </a:solidFill>
                <a:latin typeface="Calibri"/>
              </a:defRPr>
            </a:pPr>
            <a:r>
              <a:t>MACRO OFFER (Entry-Point Paid)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9040" y="2489200"/>
            <a:ext cx="720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[Low-risk paid engagement — consultation, pilot, starter package, trial. Proves the relationship works and opens pathway to Core.]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24200"/>
            <a:ext cx="8046720" cy="990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49600"/>
            <a:ext cx="50800" cy="939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9140" y="3251200"/>
            <a:ext cx="381000" cy="2540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9040" y="3251200"/>
            <a:ext cx="7208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9B5E"/>
                </a:solidFill>
                <a:latin typeface="Calibri"/>
              </a:defRPr>
            </a:pPr>
            <a:r>
              <a:t>MICRO OFFER (Free Resource)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9040" y="3556000"/>
            <a:ext cx="720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[Free value exchange — audit, calculator, quiz, guide, sample. Demonstrates expertise and captures qualified leads.]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Offer Dev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MICRO OFFER (Free Entry Point)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1092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53160"/>
            <a:ext cx="367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Format &amp;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140" y="1381760"/>
            <a:ext cx="35509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9140" y="1457960"/>
            <a:ext cx="355092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format will the Micro Offer take? (audit, checklist, guide, webinar, calculator, quiz, sample kit, ROI tool) Include specific title/name.]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393192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76960"/>
            <a:ext cx="50800" cy="1092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3940" y="1153160"/>
            <a:ext cx="367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Pain Point Addressed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3940" y="1381760"/>
            <a:ext cx="35509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3940" y="1457960"/>
            <a:ext cx="355092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[Which Tier 1 pain point from the ICP does this resource directly address? What common misconception or mistake does it correct?]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46960"/>
            <a:ext cx="8046720" cy="160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72360"/>
            <a:ext cx="50800" cy="1549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140" y="2448560"/>
            <a:ext cx="779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Path to Paid (How This Leads to Macro Offer)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9140" y="2677160"/>
            <a:ext cx="76657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140" y="2753360"/>
            <a:ext cx="7665720" cy="109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actionable value does this deliver that demonstrates your unique approach? How does this resource naturally lead to a conversation about the Macro Offer?]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Offer Dev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MACRO OFFER (Entry-Point Paid)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1092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53160"/>
            <a:ext cx="367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Engagement Type &amp; Pricing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140" y="1381760"/>
            <a:ext cx="35509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9140" y="1457960"/>
            <a:ext cx="355092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type of engagement? (consultation, assessment, pilot, starter package, diagnostic) What is the pricing strategy? (pilot pricing, introductory rate, flat fee, per-unit)]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393192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76960"/>
            <a:ext cx="50800" cy="1092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3940" y="1153160"/>
            <a:ext cx="367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Deliverable / Value Shown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3940" y="1381760"/>
            <a:ext cx="35509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3940" y="1457960"/>
            <a:ext cx="355092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specific deliverable or experience showcases what makes the business different? What diagnostic reveals deeper needs only this business can address?]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46960"/>
            <a:ext cx="8046720" cy="160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72360"/>
            <a:ext cx="50800" cy="1549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140" y="2448560"/>
            <a:ext cx="779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Conversion Path to Core Offer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9140" y="2677160"/>
            <a:ext cx="76657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140" y="2753360"/>
            <a:ext cx="7665720" cy="109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[Typical conversion rate from Macro → Core. Natural upsell/expansion opportunities. How ROI is framed vs. cost. Common objections handled in this step.]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Offer Dev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CORE OFFER (Full Engagement)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1092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53160"/>
            <a:ext cx="367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Scope &amp; Deliverables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140" y="1381760"/>
            <a:ext cx="35509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9140" y="1457960"/>
            <a:ext cx="355092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[Full scope of the core offering. Specific deliverables, outcomes, or access the customer receives. What makes this the natural next step from the Macro Offer.]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393192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76960"/>
            <a:ext cx="50800" cy="1092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3940" y="1153160"/>
            <a:ext cx="367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Pricing Structure &amp; Term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3940" y="1381760"/>
            <a:ext cx="35509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3940" y="1457960"/>
            <a:ext cx="355092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[Pricing structure (retainer, project-based, subscription, per-unit, tiered). Typical contract length or commitment period.]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46960"/>
            <a:ext cx="8046720" cy="160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72360"/>
            <a:ext cx="50800" cy="1549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140" y="2448560"/>
            <a:ext cx="779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Retention Drivers &amp; 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9140" y="2677160"/>
            <a:ext cx="76657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140" y="2753360"/>
            <a:ext cx="7665720" cy="109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ongoing value keeps customers engaged long-term? What expansion or upsell opportunities exist within the Core Offer (additional services, higher tiers, add-ons)?]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Offer Dev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CREATIVE ANGLES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90500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5640" y="1178560"/>
            <a:ext cx="381000" cy="2540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640" y="1534160"/>
            <a:ext cx="165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9B5E"/>
                </a:solidFill>
                <a:latin typeface="Calibri"/>
              </a:defRPr>
            </a:pPr>
            <a:r>
              <a:t>Pain Point (from ICP)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640" y="1762760"/>
            <a:ext cx="1651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[Tier 1 pain point]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640" y="2346960"/>
            <a:ext cx="165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9B5E"/>
                </a:solidFill>
                <a:latin typeface="Calibri"/>
              </a:defRPr>
            </a:pPr>
            <a:r>
              <a:t>Hook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640" y="2575560"/>
            <a:ext cx="1651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[Hook using UVP language]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640" y="3159760"/>
            <a:ext cx="165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9B5E"/>
                </a:solidFill>
                <a:latin typeface="Calibri"/>
              </a:defRPr>
            </a:pPr>
            <a:r>
              <a:t>CTA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640" y="3388360"/>
            <a:ext cx="1651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[Call to action]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4130" y="1051560"/>
            <a:ext cx="190500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1130" y="1178560"/>
            <a:ext cx="381000" cy="2540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1130" y="1534160"/>
            <a:ext cx="165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9B5E"/>
                </a:solidFill>
                <a:latin typeface="Calibri"/>
              </a:defRPr>
            </a:pPr>
            <a:r>
              <a:t>Pain Point (from ICP)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1130" y="1762760"/>
            <a:ext cx="1651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[Tier 1 pain point]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1130" y="2346960"/>
            <a:ext cx="165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9B5E"/>
                </a:solidFill>
                <a:latin typeface="Calibri"/>
              </a:defRPr>
            </a:pPr>
            <a:r>
              <a:t>Hook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1130" y="2575560"/>
            <a:ext cx="1651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[Hook using UVP language]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1130" y="3159760"/>
            <a:ext cx="165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9B5E"/>
                </a:solidFill>
                <a:latin typeface="Calibri"/>
              </a:defRPr>
            </a:pPr>
            <a:r>
              <a:t>CTA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1130" y="3388360"/>
            <a:ext cx="1651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[Call to action]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9620" y="1051560"/>
            <a:ext cx="190500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6620" y="1178560"/>
            <a:ext cx="381000" cy="2540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6620" y="1534160"/>
            <a:ext cx="165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9B5E"/>
                </a:solidFill>
                <a:latin typeface="Calibri"/>
              </a:defRPr>
            </a:pPr>
            <a:r>
              <a:t>Pain Point (from ICP)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6620" y="1762760"/>
            <a:ext cx="1651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[Tier 1 pain point]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6620" y="2346960"/>
            <a:ext cx="165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9B5E"/>
                </a:solidFill>
                <a:latin typeface="Calibri"/>
              </a:defRPr>
            </a:pPr>
            <a:r>
              <a:t>Hook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6620" y="2575560"/>
            <a:ext cx="1651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[Hook using UVP language]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6620" y="3159760"/>
            <a:ext cx="165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9B5E"/>
                </a:solidFill>
                <a:latin typeface="Calibri"/>
              </a:defRPr>
            </a:pPr>
            <a:r>
              <a:t>CTA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6620" y="3388360"/>
            <a:ext cx="1651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[Call to action]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95110" y="1051560"/>
            <a:ext cx="190500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2110" y="1178560"/>
            <a:ext cx="381000" cy="2540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2110" y="1534160"/>
            <a:ext cx="165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9B5E"/>
                </a:solidFill>
                <a:latin typeface="Calibri"/>
              </a:defRPr>
            </a:pPr>
            <a:r>
              <a:t>Pain Point (from ICP)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2110" y="1762760"/>
            <a:ext cx="1651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[Tier 1 pain point]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2110" y="2346960"/>
            <a:ext cx="165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9B5E"/>
                </a:solidFill>
                <a:latin typeface="Calibri"/>
              </a:defRPr>
            </a:pPr>
            <a:r>
              <a:t>Hook Direction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2110" y="2575560"/>
            <a:ext cx="1651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[Hook using UVP language]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2110" y="3159760"/>
            <a:ext cx="165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9B5E"/>
                </a:solidFill>
                <a:latin typeface="Calibri"/>
              </a:defRPr>
            </a:pPr>
            <a:r>
              <a:t>CTA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2110" y="3388360"/>
            <a:ext cx="1651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[Call to action]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Offer Dev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OBJECTION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819400" cy="304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Objection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18840" y="1005840"/>
            <a:ext cx="5080000" cy="304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Response Framework (Grounded in UVP)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6040"/>
            <a:ext cx="2819400" cy="558800"/>
          </a:xfrm>
          <a:prstGeom prst="rect">
            <a:avLst/>
          </a:prstGeom>
          <a:solidFill>
            <a:srgbClr val="F0F9F4"/>
          </a:solidFill>
          <a:ln w="317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1. [Objection 1]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8840" y="1336040"/>
            <a:ext cx="5080000" cy="558800"/>
          </a:xfrm>
          <a:prstGeom prst="rect">
            <a:avLst/>
          </a:prstGeom>
          <a:solidFill>
            <a:srgbClr val="F0F9F4"/>
          </a:solidFill>
          <a:ln w="317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[Response referencing UVP differentiator + specific proof point]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819400" cy="558800"/>
          </a:xfrm>
          <a:prstGeom prst="rect">
            <a:avLst/>
          </a:prstGeom>
          <a:solidFill>
            <a:srgbClr val="FFFFFF"/>
          </a:solidFill>
          <a:ln w="317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2. [Objection 2]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8840" y="1920240"/>
            <a:ext cx="5080000" cy="558800"/>
          </a:xfrm>
          <a:prstGeom prst="rect">
            <a:avLst/>
          </a:prstGeom>
          <a:solidFill>
            <a:srgbClr val="FFFFFF"/>
          </a:solidFill>
          <a:ln w="317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[Response referencing UVP differentiator + specific proof point]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04440"/>
            <a:ext cx="2819400" cy="558800"/>
          </a:xfrm>
          <a:prstGeom prst="rect">
            <a:avLst/>
          </a:prstGeom>
          <a:solidFill>
            <a:srgbClr val="F0F9F4"/>
          </a:solidFill>
          <a:ln w="317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3. [Objection 3]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8840" y="2504440"/>
            <a:ext cx="5080000" cy="558800"/>
          </a:xfrm>
          <a:prstGeom prst="rect">
            <a:avLst/>
          </a:prstGeom>
          <a:solidFill>
            <a:srgbClr val="F0F9F4"/>
          </a:solidFill>
          <a:ln w="317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[Response referencing UVP differentiator + specific proof point]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88640"/>
            <a:ext cx="2819400" cy="558800"/>
          </a:xfrm>
          <a:prstGeom prst="rect">
            <a:avLst/>
          </a:prstGeom>
          <a:solidFill>
            <a:srgbClr val="FFFFFF"/>
          </a:solidFill>
          <a:ln w="317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4. [Objection 4]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8840" y="3088640"/>
            <a:ext cx="5080000" cy="558800"/>
          </a:xfrm>
          <a:prstGeom prst="rect">
            <a:avLst/>
          </a:prstGeom>
          <a:solidFill>
            <a:srgbClr val="FFFFFF"/>
          </a:solidFill>
          <a:ln w="317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[Response referencing UVP differentiator + specific proof point]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72840"/>
            <a:ext cx="2819400" cy="558800"/>
          </a:xfrm>
          <a:prstGeom prst="rect">
            <a:avLst/>
          </a:prstGeom>
          <a:solidFill>
            <a:srgbClr val="F0F9F4"/>
          </a:solidFill>
          <a:ln w="317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5. [Objection 5]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8840" y="3672840"/>
            <a:ext cx="5080000" cy="558800"/>
          </a:xfrm>
          <a:prstGeom prst="rect">
            <a:avLst/>
          </a:prstGeom>
          <a:solidFill>
            <a:srgbClr val="F0F9F4"/>
          </a:solidFill>
          <a:ln w="317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[Response referencing UVP differentiator + specific proof point]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Offer Dev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OFFER LADDER SYNTHESIS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8046720" cy="1371600"/>
          </a:xfrm>
          <a:prstGeom prst="roundRect">
            <a:avLst/>
          </a:prstGeom>
          <a:solidFill>
            <a:srgbClr val="E5F5EC"/>
          </a:solidFill>
          <a:ln w="12700">
            <a:solidFill>
              <a:srgbClr val="1B9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1320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27760"/>
            <a:ext cx="762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How The Ladder Connects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140" y="1407160"/>
            <a:ext cx="762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718"/>
                </a:solidFill>
                <a:latin typeface="Calibri"/>
              </a:defRPr>
            </a:pPr>
            <a:r>
              <a:t>[Explain how each tier creates enough value and trust that the next step feels like an obvious decision: Micro demonstrates expertise → builds enough credibility that a prospect pays for the Macro → Macro diagnostic reveals depth of need that makes Core the natural solution.]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75560"/>
            <a:ext cx="804672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0960"/>
            <a:ext cx="50800" cy="1320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140" y="2651760"/>
            <a:ext cx="762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Positioning Statement (From UVP)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140" y="2931160"/>
            <a:ext cx="762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718"/>
                </a:solidFill>
                <a:latin typeface="Calibri"/>
              </a:defRPr>
            </a:pPr>
            <a:r>
              <a:t>[Pull the Positioning Statement from the UVP deliverable: For [ICP] who need [primary need], [Company] is the only [category] that [key differentiator] because [proof/reason to believe].]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Offer Dev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