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200" b="1">
                <a:solidFill>
                  <a:srgbClr val="121718"/>
                </a:solidFill>
                <a:latin typeface="Calibri"/>
              </a:rPr>
              <a:t>IDEAL CUSTOMER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640080" cy="2743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0">
                <a:solidFill>
                  <a:srgbClr val="121718"/>
                </a:solidFill>
                <a:latin typeface="Calibri"/>
              </a:rPr>
              <a:t>[Client Name]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2286000" cy="25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121718"/>
                </a:solidFill>
                <a:latin typeface="Calibri"/>
              </a:rPr>
              <a:t>ClearLaunch System  |  Stage 1: ICP &amp; Market Definition
[Date]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YOUR CUSTOMER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560320" cy="292608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5640" y="1224280"/>
            <a:ext cx="640080" cy="2540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5640" y="1224280"/>
            <a:ext cx="64008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640" y="1579880"/>
            <a:ext cx="23063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121718"/>
                </a:solidFill>
                <a:latin typeface="Calibri"/>
              </a:rPr>
              <a:t>TYPE A (PRIMARY)</a:t>
            </a:r>
          </a:p>
        </p:txBody>
      </p:sp>
      <p:sp>
        <p:nvSpPr>
          <p:cNvPr id="8" name="Rectangle 7"/>
          <p:cNvSpPr/>
          <p:nvPr/>
        </p:nvSpPr>
        <p:spPr>
          <a:xfrm>
            <a:off x="675640" y="1910080"/>
            <a:ext cx="2306320" cy="1905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5640" y="2011680"/>
            <a:ext cx="2306320" cy="203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>
                <a:solidFill>
                  <a:srgbClr val="1B9B5E"/>
                </a:solidFill>
                <a:latin typeface="Calibri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640" y="2240280"/>
            <a:ext cx="2306320" cy="571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[Best, most profitable customer type]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640" y="2900680"/>
            <a:ext cx="2306320" cy="203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>
                <a:solidFill>
                  <a:srgbClr val="1B9B5E"/>
                </a:solidFill>
                <a:latin typeface="Calibri"/>
              </a:rP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640" y="3129280"/>
            <a:ext cx="2306320" cy="571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[Why they're your best]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097280"/>
            <a:ext cx="2560320" cy="292608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8840" y="1224280"/>
            <a:ext cx="640080" cy="254000"/>
          </a:xfrm>
          <a:prstGeom prst="rect">
            <a:avLst/>
          </a:prstGeom>
          <a:solidFill>
            <a:srgbClr val="3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8840" y="1224280"/>
            <a:ext cx="64008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8840" y="1579880"/>
            <a:ext cx="23063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121718"/>
                </a:solidFill>
                <a:latin typeface="Calibri"/>
              </a:rPr>
              <a:t>TYPE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8840" y="1910080"/>
            <a:ext cx="2306320" cy="1905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8840" y="2011680"/>
            <a:ext cx="2306320" cy="203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>
                <a:solidFill>
                  <a:srgbClr val="1B9B5E"/>
                </a:solidFill>
                <a:latin typeface="Calibri"/>
              </a:rPr>
              <a:t>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8840" y="2240280"/>
            <a:ext cx="2306320" cy="571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[Another customer type you serve]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8840" y="2900680"/>
            <a:ext cx="2306320" cy="203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>
                <a:solidFill>
                  <a:srgbClr val="1B9B5E"/>
                </a:solidFill>
                <a:latin typeface="Calibri"/>
              </a:rPr>
              <a:t>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8840" y="3129280"/>
            <a:ext cx="2306320" cy="571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[How they compare to Type A]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097280"/>
            <a:ext cx="2560320" cy="292608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2040" y="1224280"/>
            <a:ext cx="640080" cy="2540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2040" y="1224280"/>
            <a:ext cx="64008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2040" y="1579880"/>
            <a:ext cx="23063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121718"/>
                </a:solidFill>
                <a:latin typeface="Calibri"/>
              </a:rPr>
              <a:t>TYPE 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2040" y="1910080"/>
            <a:ext cx="2306320" cy="1905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2040" y="2011680"/>
            <a:ext cx="2306320" cy="203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>
                <a:solidFill>
                  <a:srgbClr val="1B9B5E"/>
                </a:solidFill>
                <a:latin typeface="Calibri"/>
              </a:rPr>
              <a:t>Description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2040" y="2240280"/>
            <a:ext cx="2306320" cy="571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[Other customer types]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2040" y="2900680"/>
            <a:ext cx="2306320" cy="203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1">
                <a:solidFill>
                  <a:srgbClr val="1B9B5E"/>
                </a:solidFill>
                <a:latin typeface="Calibri"/>
              </a:rPr>
              <a:t>Assessment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2040" y="3129280"/>
            <a:ext cx="2306320" cy="571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[Worth pursuing or not?]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TIER 1 DEEP DIVE: COMPANY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8046720" cy="82296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76960"/>
            <a:ext cx="50800" cy="77216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143000"/>
            <a:ext cx="7665720" cy="330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121718"/>
                </a:solidFill>
                <a:latin typeface="Calibri"/>
              </a:rPr>
              <a:t>[ICP Name — e.g., "Mid-Market SaaS Company"]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140" y="1463040"/>
            <a:ext cx="76657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>
                <a:solidFill>
                  <a:srgbClr val="121718"/>
                </a:solidFill>
                <a:latin typeface="Calibri"/>
              </a:rPr>
              <a:t>[One-line description of who they are]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3931920" cy="201168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74240"/>
            <a:ext cx="50800" cy="196088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140" y="2275840"/>
            <a:ext cx="35509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Why They're Your Best Customer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9140" y="2606040"/>
            <a:ext cx="3550920" cy="1905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140" y="2707640"/>
            <a:ext cx="3550920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>
                <a:solidFill>
                  <a:srgbClr val="121718"/>
                </a:solidFill>
                <a:latin typeface="Calibri"/>
              </a:rPr>
              <a:t>[What makes this type of company ideal for your business?]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148840"/>
            <a:ext cx="3931920" cy="201168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2174240"/>
            <a:ext cx="50800" cy="196088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3940" y="2275840"/>
            <a:ext cx="35509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Strategic Priority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3940" y="2606040"/>
            <a:ext cx="3550920" cy="1905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53940" y="2758440"/>
            <a:ext cx="914400" cy="279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53940" y="2758440"/>
            <a:ext cx="91440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3940" y="3139440"/>
            <a:ext cx="355092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>
                <a:solidFill>
                  <a:srgbClr val="121718"/>
                </a:solidFill>
                <a:latin typeface="Calibri"/>
              </a:rPr>
              <a:t>[Max investment. Direct outreach, personalized campaigns.]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FIRMOGRAPHICS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931920" cy="347472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31240"/>
            <a:ext cx="50800" cy="34239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10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Organization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010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Industry / Vertical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34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[e.g., Construction, SaaS]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Company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34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[e.g., 10-50 employees]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Annual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34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[e.g., $1M-$5M]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" y="29362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43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Years in 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3440" y="29743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[Range]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569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Growth Stage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3440" y="34569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[Startup / Scaling / Established]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005840"/>
            <a:ext cx="3931920" cy="347472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1031240"/>
            <a:ext cx="50800" cy="34239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58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Market Position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158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Geographic Markets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82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[Cities, states, regions]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58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Digital Maturity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82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[Minimal / Some / Advanced]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Org 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82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[Owner-operated / Departmentalized]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15840" y="29362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29743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Budget 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8240" y="29743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[Per project or annual spend]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4569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Budget 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8240" y="34569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[When they plan &amp; allocate]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NEEDS, PAIN POINTS &amp; BUYING TRIGGERS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931920" cy="347472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31240"/>
            <a:ext cx="50800" cy="34239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10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Pain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010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Primary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34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[Core problem they hire you to solve]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Secondary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34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[Additional problems or goals]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Current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34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[What they do now]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" y="29362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43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Pain with Current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3440" y="29743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[Why it isn't working]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569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Urgency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3440" y="34569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[Critical / Important / Nice-to-Have]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005840"/>
            <a:ext cx="3931920" cy="347472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1031240"/>
            <a:ext cx="50800" cy="34239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58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Buying Triggers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158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Triggers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82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[New funding, growth, bad vendor, etc.]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58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Decision Timeline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82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[First contact to signed deal]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Decision Maker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82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[Title/role of the signer]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15840" y="29362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29743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Influencers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8240" y="29743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[Who else has input?]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4569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Key Objections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8240" y="34569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[Common pushback in sales]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BEACHHEAD &amp; COMPETITIVE LANDSCAPE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931920" cy="347472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31240"/>
            <a:ext cx="50800" cy="34239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10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Beachhead Selection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010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Beachhead 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34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[Specific niche to dominate first]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Why Start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34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[Why this segment first?]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Pain Acute Enough?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34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[Will they pay to solve now?]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" y="29362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43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Niche Winnable?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3440" y="29743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[No dominant competitor?]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569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Expansion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3440" y="34569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[Adjacent segments after winning]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005840"/>
            <a:ext cx="3931920" cy="347472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1031240"/>
            <a:ext cx="50800" cy="34239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58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Competitive Landscape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158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Direct Competitors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82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[Who else serves this segment?]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58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Market Alternative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82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[Incumbent controlling the budget]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Product Alternative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82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[Innovative solution from other category]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15840" y="29362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29743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Your Differentiation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8240" y="29743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[Why would they pick you?]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4569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Switching Barriers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8240" y="34569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[What keeps them with current?]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SCENARIO-BASED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31240"/>
            <a:ext cx="50800" cy="31496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1340" y="1018540"/>
            <a:ext cx="3906520" cy="406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040" y="1069340"/>
            <a:ext cx="3627120" cy="304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BEFORE Your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77340"/>
            <a:ext cx="11277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2000" y="1577340"/>
            <a:ext cx="22199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[Where are they when the problem hits?]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" y="2123440"/>
            <a:ext cx="3627120" cy="5842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61540"/>
            <a:ext cx="11277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Desired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2000" y="2161540"/>
            <a:ext cx="22199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[What do they actually want?]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5740"/>
            <a:ext cx="11277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Current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2000" y="2745740"/>
            <a:ext cx="22199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[How are they trying to solve it?]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" y="3291840"/>
            <a:ext cx="3627120" cy="5842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29940"/>
            <a:ext cx="11277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What Goes 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2000" y="3329940"/>
            <a:ext cx="2219960" cy="50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[Why does it frustrate them?]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00584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1031240"/>
            <a:ext cx="50800" cy="31496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76140" y="1018540"/>
            <a:ext cx="3906520" cy="406400"/>
          </a:xfrm>
          <a:prstGeom prst="rect">
            <a:avLst/>
          </a:prstGeom>
          <a:solidFill>
            <a:srgbClr val="3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5840" y="1069340"/>
            <a:ext cx="3627120" cy="304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21718"/>
                </a:solidFill>
                <a:latin typeface="Calibri"/>
              </a:rPr>
              <a:t>AFTER Your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577340"/>
            <a:ext cx="1127760" cy="660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New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6800" y="1577340"/>
            <a:ext cx="2219960" cy="660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[How does their business change?]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15840" y="2275840"/>
            <a:ext cx="3627120" cy="736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2313940"/>
            <a:ext cx="1127760" cy="660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What Makes It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6800" y="2313940"/>
            <a:ext cx="2219960" cy="660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[Capabilities that enable improvement]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050540"/>
            <a:ext cx="1127760" cy="660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The Payoff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6800" y="3050540"/>
            <a:ext cx="2219960" cy="660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[Quantifiable business improvement]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QUALIFYING &amp; DISQUALIFYING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31240"/>
            <a:ext cx="50800" cy="2692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10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Qualifiers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010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Must-Haves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34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[Non-negotiable criteria]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Nice-to-Haves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34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[Preferred but not required]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Minimum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34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[Below this, engagement doesn't make sense]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00584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031240"/>
            <a:ext cx="50800" cy="269240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5840" y="1107440"/>
            <a:ext cx="36271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1B9B5E"/>
                </a:solidFill>
                <a:latin typeface="Calibri"/>
              </a:rPr>
              <a:t>Disqualifiers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15840" y="1412240"/>
            <a:ext cx="36271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5265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Disqualifiers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8240" y="15265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[What makes a company NOT a fit?]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15840" y="1971040"/>
            <a:ext cx="3627120" cy="482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0091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Red Flags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8240" y="20091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[Warning signs of a bad-fit client]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491740"/>
            <a:ext cx="121920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Deal Killers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8240" y="2491740"/>
            <a:ext cx="2128520" cy="406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[Conditions that end the conversation]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CUSTOMER TIERING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2560320"/>
                <a:gridCol w="1554480"/>
              </a:tblGrid>
              <a:tr h="411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Strategic Approach</a:t>
                      </a:r>
                    </a:p>
                  </a:txBody>
                  <a:tcPr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B9B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[Type A / Segment A]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[Maximum investment, direct outreach]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[Type B / Segment B]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[Scaled outreach, good fit]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[Type C / Segment C]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[Monitor and nurture]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1718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0F9F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200400"/>
            <a:ext cx="3931920" cy="137160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225800"/>
            <a:ext cx="50800" cy="1320800"/>
          </a:xfrm>
          <a:prstGeom prst="rect">
            <a:avLst/>
          </a:prstGeom>
          <a:solidFill>
            <a:srgbClr val="3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9140" y="3302000"/>
            <a:ext cx="355092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1B9B5E"/>
                </a:solidFill>
                <a:latin typeface="Calibri"/>
              </a:rPr>
              <a:t>Tier 2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140" y="3606800"/>
            <a:ext cx="355092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[Customer Type B — brief description. Why Tier 2? Future potential?]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3931920" cy="137160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3225800"/>
            <a:ext cx="50800" cy="13208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3940" y="3302000"/>
            <a:ext cx="355092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1B9B5E"/>
                </a:solidFill>
                <a:latin typeface="Calibri"/>
              </a:rPr>
              <a:t>Tier 3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3940" y="3606800"/>
            <a:ext cx="355092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[Customer Type C — brief description. Why Tier 3? Worth monitoring?]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PRIMARY BUYER PERSONA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8046720" cy="59436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985520"/>
            <a:ext cx="50800" cy="54356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024128"/>
            <a:ext cx="766572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>
                <a:solidFill>
                  <a:srgbClr val="121718"/>
                </a:solidFill>
                <a:latin typeface="Calibri"/>
              </a:rPr>
              <a:t>[Persona Name — e.g., "The Business Owner"]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140" y="1298448"/>
            <a:ext cx="76657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[Champion / Decision Maker]  |  [Title]  |  Reports to [Title]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931920" cy="123444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62760"/>
            <a:ext cx="50800" cy="11836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140" y="1813560"/>
            <a:ext cx="3550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1B9B5E"/>
                </a:solidFill>
                <a:latin typeface="Calibri"/>
              </a:rPr>
              <a:t>Goals &amp; Motivations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9140" y="2067560"/>
            <a:ext cx="35509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340" y="21818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Primary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0100" y="21818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[What they're trying to achieve]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9140" y="2499360"/>
            <a:ext cx="3550920" cy="355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340" y="25374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Success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0100" y="25374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[How they measure a win]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737360"/>
            <a:ext cx="3931920" cy="123444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762760"/>
            <a:ext cx="50800" cy="11836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3940" y="1813560"/>
            <a:ext cx="3550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1B9B5E"/>
                </a:solidFill>
                <a:latin typeface="Calibri"/>
              </a:rPr>
              <a:t>Pain Points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53940" y="2067560"/>
            <a:ext cx="35509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0140" y="21818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Frustration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4900" y="21818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[Keeps them up at night]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53940" y="2499360"/>
            <a:ext cx="3550920" cy="355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0140" y="25374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What's Blocking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4900" y="25374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[Why they haven't solved it]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108960"/>
            <a:ext cx="3931920" cy="123444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134360"/>
            <a:ext cx="50800" cy="11836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9140" y="3185160"/>
            <a:ext cx="3550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1B9B5E"/>
                </a:solidFill>
                <a:latin typeface="Calibri"/>
              </a:rPr>
              <a:t>How They Decide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9140" y="3439160"/>
            <a:ext cx="35509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340" y="35534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Research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70100" y="35534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[Google, LinkedIn, peers, etc.]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9140" y="3870960"/>
            <a:ext cx="3550920" cy="355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340" y="39090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Trust Signals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70100" y="39090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[Case studies, ROI data, referrals]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3108960"/>
            <a:ext cx="3931920" cy="123444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3440" y="3134360"/>
            <a:ext cx="50800" cy="11836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53940" y="3185160"/>
            <a:ext cx="3550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1B9B5E"/>
                </a:solidFill>
                <a:latin typeface="Calibri"/>
              </a:rPr>
              <a:t>How to Reach Them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53940" y="3439160"/>
            <a:ext cx="3550920" cy="12700"/>
          </a:xfrm>
          <a:prstGeom prst="rect">
            <a:avLst/>
          </a:prstGeom>
          <a:solidFill>
            <a:srgbClr val="A8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0140" y="35534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Best Channels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4900" y="35534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[Where marketing reaches them]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53940" y="3870960"/>
            <a:ext cx="3550920" cy="355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0140" y="3909060"/>
            <a:ext cx="1127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>
                <a:solidFill>
                  <a:srgbClr val="1B9B5E"/>
                </a:solidFill>
                <a:latin typeface="Calibri"/>
              </a:rPr>
              <a:t>Content Type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4900" y="3909060"/>
            <a:ext cx="2143760" cy="279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>
                <a:solidFill>
                  <a:srgbClr val="121718"/>
                </a:solidFill>
                <a:latin typeface="Calibri"/>
              </a:rPr>
              <a:t>[Video, case studies, whitepapers]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  |  ICP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21718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25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8046720" cy="2286000"/>
          </a:xfrm>
          <a:prstGeom prst="roundRect">
            <a:avLst>
              <a:gd name="adj" fmla="val 2000"/>
            </a:avLst>
          </a:prstGeom>
          <a:solidFill>
            <a:srgbClr val="F6F3EF"/>
          </a:solidFill>
          <a:ln w="9525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71320"/>
            <a:ext cx="50800" cy="2235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5640" y="1737360"/>
            <a:ext cx="7792720" cy="355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640" y="1788160"/>
            <a:ext cx="753872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121718"/>
                </a:solidFill>
                <a:latin typeface="Calibri"/>
              </a:rPr>
              <a:t>1.  Review and validate ICP findings with your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640" y="2169160"/>
            <a:ext cx="753872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121718"/>
                </a:solidFill>
                <a:latin typeface="Calibri"/>
              </a:rPr>
              <a:t>2.  Proceed to Stage 2: Market Research &amp; Competitive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5640" y="2499360"/>
            <a:ext cx="7792720" cy="355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640" y="2550160"/>
            <a:ext cx="753872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121718"/>
                </a:solidFill>
                <a:latin typeface="Calibri"/>
              </a:rPr>
              <a:t>3.  Use Tier 1 insights to guide keyword and competitor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640" y="2931160"/>
            <a:ext cx="753872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121718"/>
                </a:solidFill>
                <a:latin typeface="Calibri"/>
              </a:rPr>
              <a:t>4.  Identify competitive gaps and positioning opportunities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640" y="3261360"/>
            <a:ext cx="7792720" cy="3556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640" y="3312160"/>
            <a:ext cx="753872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121718"/>
                </a:solidFill>
                <a:latin typeface="Calibri"/>
              </a:rPr>
              <a:t>5.  Prepare for Stage 3: Value Proposition &amp; Messaging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1B9B5E"/>
                </a:solidFill>
                <a:latin typeface="Calibri"/>
              </a:rPr>
              <a:t>Questions? Let's discuss.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>
                <a:solidFill>
                  <a:srgbClr val="E5F5EC"/>
                </a:solidFill>
                <a:latin typeface="Calibri"/>
              </a:rPr>
              <a:t>ClearThink Marketing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