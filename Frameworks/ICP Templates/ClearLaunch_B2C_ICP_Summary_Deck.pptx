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1">
                <a:solidFill>
                  <a:srgbClr val="121718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0">
                <a:solidFill>
                  <a:srgbClr val="121718"/>
                </a:solidFill>
                <a:latin typeface="Calibri"/>
              </a:rPr>
              <a:t>[Client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286000" cy="25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ClearLaunch System  |  Stage 1: ICP &amp; Market Definition
[Date]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YOUR CUSTOMER SEGMENTS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5640" y="1224280"/>
            <a:ext cx="64008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6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SEGMENT A (PRIMARY)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6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6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6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[Highest-value consumer segment]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6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6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they're your best customers]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8840" y="1224280"/>
            <a:ext cx="640080" cy="2540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88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88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SEGMENT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88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88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88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[Secondary consumer segment]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88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88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compare to Segment A]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2040" y="1224280"/>
            <a:ext cx="640080" cy="2540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20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20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SEGMENT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20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20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20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[Other consumer segments]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20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20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[Worth pursuing or not?]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1 DEEP DIVE: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82296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77216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43000"/>
            <a:ext cx="7665720" cy="330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121718"/>
                </a:solidFill>
                <a:latin typeface="Calibri"/>
              </a:rPr>
              <a:t>[Segment Name — e.g., "Health-Conscious Millennial Parent"]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463040"/>
            <a:ext cx="76657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[One-line description of who they are]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931920" cy="20116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74240"/>
            <a:ext cx="50800" cy="196088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2275840"/>
            <a:ext cx="35509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Why They're Your Best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9140" y="2606040"/>
            <a:ext cx="35509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140" y="2707640"/>
            <a:ext cx="355092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[What makes this segment ideal — LTV, referral rate, retention, etc.]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48840"/>
            <a:ext cx="3931920" cy="20116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174240"/>
            <a:ext cx="50800" cy="196088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3940" y="2275840"/>
            <a:ext cx="35509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Strategic 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3940" y="2606040"/>
            <a:ext cx="35509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3940" y="2758440"/>
            <a:ext cx="914400" cy="27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3940" y="275844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3940" y="313944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[Max investment. Targeted ads, influencer partnerships, community building.]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DEMOGRAPHICS &amp; PSYCHOGRAPHICS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Demographics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Age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[e.g., 28-42]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Gender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[If relevant to product]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Household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[e.g., $75K-$150K]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[Urban / Suburban / Regional]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Life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[Single / Married / Parent / Empty Nest]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Psychographics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matters most to them]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Lifestyle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spend time &amp; money]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see themselves]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Influences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[Who/what shapes their decisions]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Digital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[Social platforms, content habits]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NEEDS, PAIN POINTS &amp; PURCHASE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Pain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Primary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[Core problem your product solves]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Emotional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 problem makes them feel]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Current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they use now / do without]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Frustration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current option falls short]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Urgency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[Immediate / Seasonal / Ongoing]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Purchase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Trigger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[Life change, season, recommendation]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Decision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[Impulse / Considered / Researched]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Price Sensitivity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[Budget-driven / Value-driven / Premium]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Influencer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[Spouse, friends, online reviews]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Key Objections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[Common reasons they hesitate]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CUSTOMER JOURNEY &amp; TOUCHPOINTS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Discovery &amp;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first hear about you]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[Where they look for information]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evaluate alternatives]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Trust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[Reviews, testimonials, social proof]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Content That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[Video, blog, social, UGC]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Conversion &amp; Retention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Purchase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[Online / In-store / App / DTC]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First 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they buy first]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Avg. Order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[Typical first transaction]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Repeat Behavior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[Subscription / Seasonal / Loyal]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Referral Potential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[High / Medium / Low]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SCENARIO-BASED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149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1340" y="1018540"/>
            <a:ext cx="3906520" cy="406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069340"/>
            <a:ext cx="3627120" cy="304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BEFORE Your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73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0" y="15773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[What's going on in their life?]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2123440"/>
            <a:ext cx="3627120" cy="5842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15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2000" y="21615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do they wish they had?]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57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Current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000" y="27457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are they handling it now?]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3291840"/>
            <a:ext cx="3627120" cy="5842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299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Frustration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2000" y="33299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does it feel unsolved?]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0058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031240"/>
            <a:ext cx="50800" cy="3149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6140" y="1018540"/>
            <a:ext cx="3906520" cy="4064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5840" y="1069340"/>
            <a:ext cx="3627120" cy="304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21718"/>
                </a:solidFill>
                <a:latin typeface="Calibri"/>
              </a:rPr>
              <a:t>AFTER Your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5773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New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6800" y="15773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their life improves]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5840" y="2275840"/>
            <a:ext cx="3627120" cy="736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3139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Emotional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6800" y="23139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feel differently]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0505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The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6800" y="30505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[Tangible outcome they can point to]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QUALIFYING &amp; DISQUALIFYING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2692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Ideal Customer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Behavioral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[Actions that indicate high intent]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Demographic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[Income, location, life stage match]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Engagement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[Email opens, social follows, repeat visits]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0058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31240"/>
            <a:ext cx="50800" cy="26924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Not-a-Fit Signals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Misalignment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[Needs don't match your offering]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Red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[High return rate, price-only shoppers]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Low LTV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[One-time buyers, coupon chasers]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CUSTOMER SEGMENT TIERING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1554480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Strategic Approach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A / Segment A]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[Maximum investment, direct outreach]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B / Segment 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[Scaled outreach, good fit]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C / Segment C]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[Monitor and nurture]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25800"/>
            <a:ext cx="50800" cy="13208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140" y="3302000"/>
            <a:ext cx="35509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Tier 2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140" y="360680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[Segment B — brief description. Why Tier 2? Nurture potential?]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3225800"/>
            <a:ext cx="50800" cy="13208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3302000"/>
            <a:ext cx="35509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Tier 3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3940" y="360680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[Segment C — brief description. Why Tier 3? Worth monitoring?]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PRIMARY BUYER PERSONA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8046720" cy="59436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85520"/>
            <a:ext cx="50800" cy="54356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024128"/>
            <a:ext cx="76657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121718"/>
                </a:solidFill>
                <a:latin typeface="Calibri"/>
              </a:rPr>
              <a:t>[Persona Name — e.g., "Busy Mom Beth"]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298448"/>
            <a:ext cx="76657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[Age]  |  [Location]  |  [Occupation]  |  [Household]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627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18135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Goals &amp; Motivations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9140" y="20675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340" y="21818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Primary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21818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they want to achieve or feel]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140" y="24993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340" y="2537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Success Looks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0100" y="2537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[Their ideal outcome]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7373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7627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3940" y="18135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Frustrations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3940" y="20675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0140" y="21818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Main Pain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4900" y="21818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keeps them stuck]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3940" y="24993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0140" y="2537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Emotional Toll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4900" y="2537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 problem feels]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089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1343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9140" y="31851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How They Discover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140" y="34391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340" y="3553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0100" y="3553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[Instagram, Google, friends, TikTok]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140" y="38709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340" y="39090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Content Preferences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0100" y="39090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[Video, reviews, tutorials, UGC]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1089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31343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53940" y="31851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How to Convert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53940" y="34391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0140" y="3553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Best Offer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4900" y="3553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[Free trial, discount, bundle]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3940" y="38709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0140" y="39090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Trust Builder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4900" y="39090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[Reviews, guarantees, social proof]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21718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25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8046720" cy="22860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71320"/>
            <a:ext cx="50800" cy="2235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5640" y="1737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640" y="1788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1.  Review and validate ICP findings with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640" y="2169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2.  Proceed to Stage 2: Market Research &amp; Competitive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640" y="2499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640" y="2550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3.  Use Tier 1 insights to guide keyword and competitor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40" y="2931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4.  Identify competitive gaps and positioning opportunities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640" y="3261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" y="3312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5.  Prepare for Stage 3: Value Proposition &amp; Messaging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1B9B5E"/>
                </a:solidFill>
                <a:latin typeface="Calibri"/>
              </a:rPr>
              <a:t>Questions? Let's discuss.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