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21718"/>
                </a:solidFill>
                <a:latin typeface="Calibri"/>
              </a:defRPr>
            </a:pPr>
            <a:r>
              <a:t>UNIQUE VALUE PROPOSITION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828800"/>
            <a:ext cx="640080" cy="27432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UVP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21718"/>
                </a:solidFill>
                <a:latin typeface="Calibri"/>
              </a:defRPr>
            </a:pPr>
            <a:r>
              <a:t>[Client Name]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926080"/>
            <a:ext cx="2286000" cy="25400"/>
          </a:xfrm>
          <a:prstGeom prst="rect">
            <a:avLst/>
          </a:prstGeom>
          <a:solidFill>
            <a:srgbClr val="3BE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21718"/>
                </a:solidFill>
                <a:latin typeface="Calibri"/>
              </a:defRPr>
            </a:pPr>
            <a:r>
              <a:t>ClearLaunch System  |  Step 4: UVP Development</a:t>
            </a:r>
            <a:br/>
            <a:r>
              <a:t>[Date]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2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89204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E5F5EC"/>
                </a:solidFill>
                <a:latin typeface="Calibri"/>
              </a:defRPr>
            </a:pPr>
            <a:r>
              <a:t>ClearThink Marketing  |  UVP Summary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PROBLEM &amp; MARKET GAP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3931920" cy="1143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076960"/>
            <a:ext cx="50800" cy="109220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9140" y="1153160"/>
            <a:ext cx="367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B9B5E"/>
                </a:solidFill>
                <a:latin typeface="Calibri"/>
              </a:defRPr>
            </a:pPr>
            <a:r>
              <a:t>Core Problem</a:t>
            </a:r>
          </a:p>
        </p:txBody>
      </p:sp>
      <p:sp>
        <p:nvSpPr>
          <p:cNvPr id="7" name="Rectangle 6"/>
          <p:cNvSpPr/>
          <p:nvPr/>
        </p:nvSpPr>
        <p:spPr>
          <a:xfrm>
            <a:off x="739140" y="1381760"/>
            <a:ext cx="3550920" cy="19050"/>
          </a:xfrm>
          <a:prstGeom prst="rect">
            <a:avLst/>
          </a:prstGeom>
          <a:solidFill>
            <a:srgbClr val="E5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9140" y="1457960"/>
            <a:ext cx="355092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21718"/>
                </a:solidFill>
                <a:latin typeface="Calibri"/>
              </a:defRPr>
            </a:pPr>
            <a:r>
              <a:t>[What specific problem does this business solve that others don't address effectively?]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051560"/>
            <a:ext cx="3931920" cy="1143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63440" y="1076960"/>
            <a:ext cx="50800" cy="109220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53940" y="1153160"/>
            <a:ext cx="367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B9B5E"/>
                </a:solidFill>
                <a:latin typeface="Calibri"/>
              </a:defRPr>
            </a:pPr>
            <a:r>
              <a:t>Market Gaps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53940" y="1381760"/>
            <a:ext cx="3550920" cy="19050"/>
          </a:xfrm>
          <a:prstGeom prst="rect">
            <a:avLst/>
          </a:prstGeom>
          <a:solidFill>
            <a:srgbClr val="E5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53940" y="1457960"/>
            <a:ext cx="355092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21718"/>
                </a:solidFill>
                <a:latin typeface="Calibri"/>
              </a:defRPr>
            </a:pPr>
            <a:r>
              <a:t>[What gaps or underserved needs does this business specifically address?]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346960"/>
            <a:ext cx="8046720" cy="1600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372360"/>
            <a:ext cx="50800" cy="154940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9140" y="2448560"/>
            <a:ext cx="7792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B9B5E"/>
                </a:solidFill>
                <a:latin typeface="Calibri"/>
              </a:defRPr>
            </a:pPr>
            <a:r>
              <a:t>Pain Points Eliminated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9140" y="2677160"/>
            <a:ext cx="7665720" cy="19050"/>
          </a:xfrm>
          <a:prstGeom prst="rect">
            <a:avLst/>
          </a:prstGeom>
          <a:solidFill>
            <a:srgbClr val="E5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9140" y="2753360"/>
            <a:ext cx="7665720" cy="1092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21718"/>
                </a:solidFill>
                <a:latin typeface="Calibri"/>
              </a:defRPr>
            </a:pPr>
            <a:r>
              <a:t>[What specific pain points do they eliminate for customers that others typically overlook?]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2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89204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E5F5EC"/>
                </a:solidFill>
                <a:latin typeface="Calibri"/>
              </a:defRPr>
            </a:pPr>
            <a:r>
              <a:t>ClearThink Marketing  |  UVP 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METHODOLOGY &amp; APPROACH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8046720" cy="1143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076960"/>
            <a:ext cx="50800" cy="109220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9140" y="1153160"/>
            <a:ext cx="7792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B9B5E"/>
                </a:solidFill>
                <a:latin typeface="Calibri"/>
              </a:defRPr>
            </a:pPr>
            <a:r>
              <a:t>Unique Methodology</a:t>
            </a:r>
          </a:p>
        </p:txBody>
      </p:sp>
      <p:sp>
        <p:nvSpPr>
          <p:cNvPr id="7" name="Rectangle 6"/>
          <p:cNvSpPr/>
          <p:nvPr/>
        </p:nvSpPr>
        <p:spPr>
          <a:xfrm>
            <a:off x="739140" y="1381760"/>
            <a:ext cx="7665720" cy="19050"/>
          </a:xfrm>
          <a:prstGeom prst="rect">
            <a:avLst/>
          </a:prstGeom>
          <a:solidFill>
            <a:srgbClr val="E5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9140" y="1457960"/>
            <a:ext cx="766572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21718"/>
                </a:solidFill>
                <a:latin typeface="Calibri"/>
              </a:defRPr>
            </a:pPr>
            <a:r>
              <a:t>[What unique methodology, process, or approach sets their offerings apart from competitors?]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46960"/>
            <a:ext cx="3931920" cy="1600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372360"/>
            <a:ext cx="50800" cy="154940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9140" y="2448560"/>
            <a:ext cx="367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B9B5E"/>
                </a:solidFill>
                <a:latin typeface="Calibri"/>
              </a:defRPr>
            </a:pPr>
            <a:r>
              <a:t>Delivery Difference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9140" y="2677160"/>
            <a:ext cx="3550920" cy="19050"/>
          </a:xfrm>
          <a:prstGeom prst="rect">
            <a:avLst/>
          </a:prstGeom>
          <a:solidFill>
            <a:srgbClr val="E5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9140" y="2753360"/>
            <a:ext cx="3550920" cy="1092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21718"/>
                </a:solidFill>
                <a:latin typeface="Calibri"/>
              </a:defRPr>
            </a:pPr>
            <a:r>
              <a:t>[How do they deliver differently than competitors? (faster, more transparent, more automated, etc.)]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2346960"/>
            <a:ext cx="3931920" cy="1600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63440" y="2372360"/>
            <a:ext cx="50800" cy="154940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53940" y="2448560"/>
            <a:ext cx="367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B9B5E"/>
                </a:solidFill>
                <a:latin typeface="Calibri"/>
              </a:defRPr>
            </a:pPr>
            <a:r>
              <a:t>Comprehensive Solution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53940" y="2677160"/>
            <a:ext cx="3550920" cy="19050"/>
          </a:xfrm>
          <a:prstGeom prst="rect">
            <a:avLst/>
          </a:prstGeom>
          <a:solidFill>
            <a:srgbClr val="E5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53940" y="2753360"/>
            <a:ext cx="3550920" cy="1092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21718"/>
                </a:solidFill>
                <a:latin typeface="Calibri"/>
              </a:defRPr>
            </a:pPr>
            <a:r>
              <a:t>[What unique combination of products/services provides a comprehensive solution?]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2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89204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E5F5EC"/>
                </a:solidFill>
                <a:latin typeface="Calibri"/>
              </a:defRPr>
            </a:pPr>
            <a:r>
              <a:t>ClearThink Marketing  |  UVP Summary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EXPERTISE &amp; CREDIBILITY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8046720" cy="1524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076960"/>
            <a:ext cx="50800" cy="147320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9140" y="1153160"/>
            <a:ext cx="7792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B9B5E"/>
                </a:solidFill>
                <a:latin typeface="Calibri"/>
              </a:defRPr>
            </a:pPr>
            <a:r>
              <a:t>Specialized Expertise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9140" y="1381760"/>
            <a:ext cx="7665720" cy="19050"/>
          </a:xfrm>
          <a:prstGeom prst="rect">
            <a:avLst/>
          </a:prstGeom>
          <a:solidFill>
            <a:srgbClr val="E5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9140" y="1457960"/>
            <a:ext cx="7665720" cy="1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21718"/>
                </a:solidFill>
                <a:latin typeface="Calibri"/>
              </a:defRPr>
            </a:pPr>
            <a:r>
              <a:t>[What specialized expertise, certifications, technology, or experience does the team possess that's rare in their space?]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727960"/>
            <a:ext cx="8046720" cy="1524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753360"/>
            <a:ext cx="50800" cy="147320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9140" y="2829560"/>
            <a:ext cx="7792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B9B5E"/>
                </a:solidFill>
                <a:latin typeface="Calibri"/>
              </a:defRPr>
            </a:pPr>
            <a:r>
              <a:t>Culture &amp; Values → Customer Benefits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9140" y="3058160"/>
            <a:ext cx="7665720" cy="19050"/>
          </a:xfrm>
          <a:prstGeom prst="rect">
            <a:avLst/>
          </a:prstGeom>
          <a:solidFill>
            <a:srgbClr val="E5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9140" y="3134360"/>
            <a:ext cx="7665720" cy="1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21718"/>
                </a:solidFill>
                <a:latin typeface="Calibri"/>
              </a:defRPr>
            </a:pPr>
            <a:r>
              <a:t>[What aspects of company culture or values translate into tangible benefits for customers?]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2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89204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E5F5EC"/>
                </a:solidFill>
                <a:latin typeface="Calibri"/>
              </a:defRPr>
            </a:pPr>
            <a:r>
              <a:t>ClearThink Marketing  |  UVP Summary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RESULTS &amp; OUTCOMES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8046720" cy="1524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076960"/>
            <a:ext cx="50800" cy="147320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9140" y="1153160"/>
            <a:ext cx="7792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B9B5E"/>
                </a:solidFill>
                <a:latin typeface="Calibri"/>
              </a:defRPr>
            </a:pPr>
            <a:r>
              <a:t>Unique Results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9140" y="1381760"/>
            <a:ext cx="7665720" cy="19050"/>
          </a:xfrm>
          <a:prstGeom prst="rect">
            <a:avLst/>
          </a:prstGeom>
          <a:solidFill>
            <a:srgbClr val="E5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9140" y="1457960"/>
            <a:ext cx="7665720" cy="1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21718"/>
                </a:solidFill>
                <a:latin typeface="Calibri"/>
              </a:defRPr>
            </a:pPr>
            <a:r>
              <a:t>[What specific results or outcomes can customers expect that they can't get elsewhere?]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727960"/>
            <a:ext cx="8046720" cy="1524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753360"/>
            <a:ext cx="50800" cy="147320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9140" y="2829560"/>
            <a:ext cx="7792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B9B5E"/>
                </a:solidFill>
                <a:latin typeface="Calibri"/>
              </a:defRPr>
            </a:pPr>
            <a:r>
              <a:t>Metrics &amp; KPIs Improved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9140" y="3058160"/>
            <a:ext cx="7665720" cy="19050"/>
          </a:xfrm>
          <a:prstGeom prst="rect">
            <a:avLst/>
          </a:prstGeom>
          <a:solidFill>
            <a:srgbClr val="E5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9140" y="3134360"/>
            <a:ext cx="7665720" cy="1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21718"/>
                </a:solidFill>
                <a:latin typeface="Calibri"/>
              </a:defRPr>
            </a:pPr>
            <a:r>
              <a:t>[What specific metrics or KPIs can they improve for customers better than competitors?]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2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89204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E5F5EC"/>
                </a:solidFill>
                <a:latin typeface="Calibri"/>
              </a:defRPr>
            </a:pPr>
            <a:r>
              <a:t>ClearThink Marketing  |  UVP Summary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RISK REDUCTION &amp; ASSURANCE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3931920" cy="2743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076960"/>
            <a:ext cx="50800" cy="269240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9140" y="1153160"/>
            <a:ext cx="367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B9B5E"/>
                </a:solidFill>
                <a:latin typeface="Calibri"/>
              </a:defRPr>
            </a:pPr>
            <a:r>
              <a:t>Guarantees &amp; Assurances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9140" y="1381760"/>
            <a:ext cx="3550920" cy="19050"/>
          </a:xfrm>
          <a:prstGeom prst="rect">
            <a:avLst/>
          </a:prstGeom>
          <a:solidFill>
            <a:srgbClr val="E5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9140" y="1457960"/>
            <a:ext cx="3550920" cy="223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21718"/>
                </a:solidFill>
                <a:latin typeface="Calibri"/>
              </a:defRPr>
            </a:pPr>
            <a:r>
              <a:t>[What guarantees, assurances, or risk-reduction elements can they offer that competitors don't?]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051560"/>
            <a:ext cx="3931920" cy="2743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63440" y="1076960"/>
            <a:ext cx="50800" cy="269240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53940" y="1153160"/>
            <a:ext cx="367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B9B5E"/>
                </a:solidFill>
                <a:latin typeface="Calibri"/>
              </a:defRPr>
            </a:pPr>
            <a:r>
              <a:t>Pricing &amp; Value Model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53940" y="1381760"/>
            <a:ext cx="3550920" cy="19050"/>
          </a:xfrm>
          <a:prstGeom prst="rect">
            <a:avLst/>
          </a:prstGeom>
          <a:solidFill>
            <a:srgbClr val="E5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53940" y="1457960"/>
            <a:ext cx="3550920" cy="223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21718"/>
                </a:solidFill>
                <a:latin typeface="Calibri"/>
              </a:defRPr>
            </a:pPr>
            <a:r>
              <a:t>[How does their pricing model or structure provide better value than traditional approaches?]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2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89204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E5F5EC"/>
                </a:solidFill>
                <a:latin typeface="Calibri"/>
              </a:defRPr>
            </a:pPr>
            <a:r>
              <a:t>ClearThink Marketing  |  UVP Summary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PROOF &amp; VALIDATION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8046720" cy="1524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076960"/>
            <a:ext cx="50800" cy="147320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9140" y="1153160"/>
            <a:ext cx="7792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B9B5E"/>
                </a:solidFill>
                <a:latin typeface="Calibri"/>
              </a:defRPr>
            </a:pPr>
            <a:r>
              <a:t>Customer Feedback &amp; Testimonials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9140" y="1381760"/>
            <a:ext cx="7665720" cy="19050"/>
          </a:xfrm>
          <a:prstGeom prst="rect">
            <a:avLst/>
          </a:prstGeom>
          <a:solidFill>
            <a:srgbClr val="E5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9140" y="1457960"/>
            <a:ext cx="7665720" cy="1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21718"/>
                </a:solidFill>
                <a:latin typeface="Calibri"/>
              </a:defRPr>
            </a:pPr>
            <a:r>
              <a:t>[What specific customer feedback, testimonials, or reviews highlight their unique advantages?]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727960"/>
            <a:ext cx="8046720" cy="1524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753360"/>
            <a:ext cx="50800" cy="147320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9140" y="2829560"/>
            <a:ext cx="7792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B9B5E"/>
                </a:solidFill>
                <a:latin typeface="Calibri"/>
              </a:defRPr>
            </a:pPr>
            <a:r>
              <a:t>Case Studies &amp; Evidence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9140" y="3058160"/>
            <a:ext cx="7665720" cy="19050"/>
          </a:xfrm>
          <a:prstGeom prst="rect">
            <a:avLst/>
          </a:prstGeom>
          <a:solidFill>
            <a:srgbClr val="E5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9140" y="3134360"/>
            <a:ext cx="7665720" cy="1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21718"/>
                </a:solidFill>
                <a:latin typeface="Calibri"/>
              </a:defRPr>
            </a:pPr>
            <a:r>
              <a:t>[What case studies, examples, or data points demonstrate their value proposition in action?]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2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89204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E5F5EC"/>
                </a:solidFill>
                <a:latin typeface="Calibri"/>
              </a:defRPr>
            </a:pPr>
            <a:r>
              <a:t>ClearThink Marketing  |  UVP Summary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TOP 3 DIFFERENTIATORS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2560320" cy="2926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5640" y="1178560"/>
            <a:ext cx="381000" cy="25400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5640" y="1534160"/>
            <a:ext cx="230632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21718"/>
                </a:solidFill>
                <a:latin typeface="Calibri"/>
              </a:defRPr>
            </a:pPr>
            <a:r>
              <a:t>[Differentiator 1 Name]</a:t>
            </a:r>
          </a:p>
        </p:txBody>
      </p:sp>
      <p:sp>
        <p:nvSpPr>
          <p:cNvPr id="7" name="Rectangle 6"/>
          <p:cNvSpPr/>
          <p:nvPr/>
        </p:nvSpPr>
        <p:spPr>
          <a:xfrm>
            <a:off x="675640" y="1864360"/>
            <a:ext cx="2306320" cy="19050"/>
          </a:xfrm>
          <a:prstGeom prst="rect">
            <a:avLst/>
          </a:prstGeom>
          <a:solidFill>
            <a:srgbClr val="E5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5640" y="1965960"/>
            <a:ext cx="230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21718"/>
                </a:solidFill>
                <a:latin typeface="Calibri"/>
              </a:defRPr>
            </a:pPr>
            <a:r>
              <a:t>[2-3 sentence explanation of this differentiator, connected to a specific customer pain point]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051560"/>
            <a:ext cx="2560320" cy="2926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18840" y="1178560"/>
            <a:ext cx="381000" cy="25400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18840" y="1534160"/>
            <a:ext cx="230632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21718"/>
                </a:solidFill>
                <a:latin typeface="Calibri"/>
              </a:defRPr>
            </a:pPr>
            <a:r>
              <a:t>[Differentiator 2 Name]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18840" y="1864360"/>
            <a:ext cx="2306320" cy="19050"/>
          </a:xfrm>
          <a:prstGeom prst="rect">
            <a:avLst/>
          </a:prstGeom>
          <a:solidFill>
            <a:srgbClr val="E5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18840" y="1965960"/>
            <a:ext cx="230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21718"/>
                </a:solidFill>
                <a:latin typeface="Calibri"/>
              </a:defRPr>
            </a:pPr>
            <a:r>
              <a:t>[2-3 sentence explanation of this differentiator, connected to a specific customer pain point]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1051560"/>
            <a:ext cx="2560320" cy="2926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2040" y="1178560"/>
            <a:ext cx="381000" cy="25400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62040" y="1534160"/>
            <a:ext cx="230632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21718"/>
                </a:solidFill>
                <a:latin typeface="Calibri"/>
              </a:defRPr>
            </a:pPr>
            <a:r>
              <a:t>[Differentiator 3 Name]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62040" y="1864360"/>
            <a:ext cx="2306320" cy="19050"/>
          </a:xfrm>
          <a:prstGeom prst="rect">
            <a:avLst/>
          </a:prstGeom>
          <a:solidFill>
            <a:srgbClr val="E5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62040" y="1965960"/>
            <a:ext cx="230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21718"/>
                </a:solidFill>
                <a:latin typeface="Calibri"/>
              </a:defRPr>
            </a:pPr>
            <a:r>
              <a:t>[2-3 sentence explanation of this differentiator, connected to a specific customer pain point]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2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89204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E5F5EC"/>
                </a:solidFill>
                <a:latin typeface="Calibri"/>
              </a:defRPr>
            </a:pPr>
            <a:r>
              <a:t>ClearThink Marketing  |  UVP Summary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UVP STATEMENT &amp; ELEVATOR PITCH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8046720" cy="1371600"/>
          </a:xfrm>
          <a:prstGeom prst="roundRect">
            <a:avLst/>
          </a:prstGeom>
          <a:solidFill>
            <a:srgbClr val="E5F5EC"/>
          </a:solidFill>
          <a:ln w="12700">
            <a:solidFill>
              <a:srgbClr val="1B9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076960"/>
            <a:ext cx="50800" cy="132080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9140" y="1127760"/>
            <a:ext cx="762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B9B5E"/>
                </a:solidFill>
                <a:latin typeface="Calibri"/>
              </a:defRPr>
            </a:pPr>
            <a:r>
              <a:t>Draft UVP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9140" y="1407160"/>
            <a:ext cx="762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21718"/>
                </a:solidFill>
                <a:latin typeface="Calibri"/>
              </a:defRPr>
            </a:pPr>
            <a:r>
              <a:t>[We help [ICP] achieve [primary outcome] through [unique methodology]. Unlike [competitors] — who [what they do wrong] — we [what you do differently] because [proof/credibility].]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75560"/>
            <a:ext cx="8046720" cy="13716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A8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600960"/>
            <a:ext cx="50800" cy="1320800"/>
          </a:xfrm>
          <a:prstGeom prst="rect">
            <a:avLst/>
          </a:prstGeom>
          <a:solidFill>
            <a:srgbClr val="1B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9140" y="2651760"/>
            <a:ext cx="762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B9B5E"/>
                </a:solidFill>
                <a:latin typeface="Calibri"/>
              </a:defRPr>
            </a:pPr>
            <a:r>
              <a:t>Elevator Pitch (30 Seconds)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9140" y="2931160"/>
            <a:ext cx="762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21718"/>
                </a:solidFill>
                <a:latin typeface="Calibri"/>
              </a:defRPr>
            </a:pPr>
            <a:r>
              <a:t>[Natural-sounding paragraph following: name the problem → name the audience → explain what you do differently → prove it with a specific result]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2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89204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E5F5EC"/>
                </a:solidFill>
                <a:latin typeface="Calibri"/>
              </a:defRPr>
            </a:pPr>
            <a:r>
              <a:t>ClearThink Marketing  |  UVP Summary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