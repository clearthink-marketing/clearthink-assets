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7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9B5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3BE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CLEARLAUNCH SYSTEM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 Research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Summary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5603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D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Landscape Analysis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3474720"/>
            <a:ext cx="1097280" cy="365760"/>
          </a:xfrm>
          <a:prstGeom prst="rect">
            <a:avLst/>
          </a:prstGeom>
          <a:solidFill>
            <a:srgbClr val="1B9B5E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4747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4572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ClearThink Marketing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1B9B5E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7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CONTENTS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1371600" cy="36576"/>
          </a:xfrm>
          <a:prstGeom prst="rect">
            <a:avLst/>
          </a:prstGeom>
          <a:solidFill>
            <a:srgbClr val="1B9B5E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97280"/>
            <a:ext cx="804672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97280"/>
            <a:ext cx="73152" cy="731520"/>
          </a:xfrm>
          <a:prstGeom prst="rect">
            <a:avLst/>
          </a:prstGeom>
          <a:solidFill>
            <a:srgbClr val="1B9B5E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09728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9B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63040" y="11430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7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Executive Summary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63040" y="148132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findings, opportunities, and recommended actions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1965960"/>
            <a:ext cx="804672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1965960"/>
            <a:ext cx="73152" cy="731520"/>
          </a:xfrm>
          <a:prstGeom prst="rect">
            <a:avLst/>
          </a:prstGeom>
          <a:solidFill>
            <a:srgbClr val="1B9B5E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196596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9B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463040" y="20116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7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Keyword Research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463040" y="235000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keywords, Ahrefs data, intent classification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2834640"/>
            <a:ext cx="804672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2834640"/>
            <a:ext cx="73152" cy="731520"/>
          </a:xfrm>
          <a:prstGeom prst="rect">
            <a:avLst/>
          </a:prstGeom>
          <a:solidFill>
            <a:srgbClr val="1B9B5E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283464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9B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463040" y="28803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7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Competitive Analysis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63040" y="321868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overview, keyword gaps, content strategy, traffic, social, ads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3703320"/>
            <a:ext cx="804672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8640" y="3703320"/>
            <a:ext cx="73152" cy="731520"/>
          </a:xfrm>
          <a:prstGeom prst="rect">
            <a:avLst/>
          </a:prstGeom>
          <a:solidFill>
            <a:srgbClr val="1B9B5E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370332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9B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463040" y="37490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7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Methodology &amp; Data Sources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463040" y="408736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Tools, collection period, and limitations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315200" y="47091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7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FINDINGS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1371600" cy="36576"/>
          </a:xfrm>
          <a:prstGeom prst="rect">
            <a:avLst/>
          </a:prstGeom>
          <a:solidFill>
            <a:srgbClr val="1B9B5E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97280"/>
            <a:ext cx="25603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97280"/>
            <a:ext cx="2560320" cy="54864"/>
          </a:xfrm>
          <a:prstGeom prst="rect">
            <a:avLst/>
          </a:prstGeom>
          <a:solidFill>
            <a:srgbClr val="1B9B5E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7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Finding 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1828800"/>
            <a:ext cx="2194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[Enter key finding with supporting data point]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0" y="1097280"/>
            <a:ext cx="25603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83280" y="1097280"/>
            <a:ext cx="2560320" cy="54864"/>
          </a:xfrm>
          <a:prstGeom prst="rect">
            <a:avLst/>
          </a:prstGeom>
          <a:solidFill>
            <a:srgbClr val="1B9B5E"/>
          </a:solidFill>
          <a:ln/>
        </p:spPr>
      </p:sp>
      <p:sp>
        <p:nvSpPr>
          <p:cNvPr id="10" name="Text 8"/>
          <p:cNvSpPr/>
          <p:nvPr/>
        </p:nvSpPr>
        <p:spPr>
          <a:xfrm>
            <a:off x="3566160" y="1371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7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Finding 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566160" y="1828800"/>
            <a:ext cx="2194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[Enter key finding with supporting data point]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097280"/>
            <a:ext cx="25603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1097280"/>
            <a:ext cx="2560320" cy="54864"/>
          </a:xfrm>
          <a:prstGeom prst="rect">
            <a:avLst/>
          </a:prstGeom>
          <a:solidFill>
            <a:srgbClr val="1B9B5E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1371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7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Finding 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0" y="1828800"/>
            <a:ext cx="2194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[Enter key finding with supporting data point]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0" y="47091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7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 OPPORTUNITIES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1371600" cy="36576"/>
          </a:xfrm>
          <a:prstGeom prst="rect">
            <a:avLst/>
          </a:prstGeom>
          <a:solidFill>
            <a:srgbClr val="1B9B5E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97280"/>
            <a:ext cx="80467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97280"/>
            <a:ext cx="640080" cy="777240"/>
          </a:xfrm>
          <a:prstGeom prst="rect">
            <a:avLst/>
          </a:prstGeom>
          <a:solidFill>
            <a:srgbClr val="1B9B5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97280"/>
            <a:ext cx="640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371600" y="11430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7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[Opportunity description]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71600" y="148132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[Supporting detail and potential impact]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2011680"/>
            <a:ext cx="8046720" cy="777240"/>
          </a:xfrm>
          <a:prstGeom prst="rect">
            <a:avLst/>
          </a:prstGeom>
          <a:solidFill>
            <a:srgbClr val="F0F9F4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2011680"/>
            <a:ext cx="640080" cy="777240"/>
          </a:xfrm>
          <a:prstGeom prst="rect">
            <a:avLst/>
          </a:prstGeom>
          <a:solidFill>
            <a:srgbClr val="1B9B5E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011680"/>
            <a:ext cx="640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371600" y="20574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7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[Opportunity description]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371600" y="239572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[Supporting detail and potential impact]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2926080"/>
            <a:ext cx="80467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2926080"/>
            <a:ext cx="640080" cy="777240"/>
          </a:xfrm>
          <a:prstGeom prst="rect">
            <a:avLst/>
          </a:prstGeom>
          <a:solidFill>
            <a:srgbClr val="1B9B5E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926080"/>
            <a:ext cx="640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371600" y="29718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7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[Opportunity description]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71600" y="331012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[Supporting detail and potential impact]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3840480"/>
            <a:ext cx="8046720" cy="777240"/>
          </a:xfrm>
          <a:prstGeom prst="rect">
            <a:avLst/>
          </a:prstGeom>
          <a:solidFill>
            <a:srgbClr val="F0F9F4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8640" y="3840480"/>
            <a:ext cx="640080" cy="777240"/>
          </a:xfrm>
          <a:prstGeom prst="rect">
            <a:avLst/>
          </a:prstGeom>
          <a:solidFill>
            <a:srgbClr val="1B9B5E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840480"/>
            <a:ext cx="640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371600" y="38862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7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[Opportunity description]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371600" y="422452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[Supporting detail and potential impact]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315200" y="47091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7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RECOMMENDED NEXT ACTIONS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1371600" cy="36576"/>
          </a:xfrm>
          <a:prstGeom prst="rect">
            <a:avLst/>
          </a:prstGeom>
          <a:solidFill>
            <a:srgbClr val="1B9B5E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97280"/>
            <a:ext cx="256032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97280"/>
            <a:ext cx="2560320" cy="502920"/>
          </a:xfrm>
          <a:prstGeom prst="rect">
            <a:avLst/>
          </a:prstGeom>
          <a:solidFill>
            <a:srgbClr val="1B9B5E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11556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(0–30 Days)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1737360"/>
            <a:ext cx="22860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217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[Action item 1]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217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[Action item 2]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217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[Action item 3]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83280" y="1097280"/>
            <a:ext cx="256032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83280" y="1097280"/>
            <a:ext cx="2560320" cy="502920"/>
          </a:xfrm>
          <a:prstGeom prst="rect">
            <a:avLst/>
          </a:prstGeom>
          <a:solidFill>
            <a:srgbClr val="1B9B5E"/>
          </a:solidFill>
          <a:ln/>
        </p:spPr>
      </p:sp>
      <p:sp>
        <p:nvSpPr>
          <p:cNvPr id="10" name="Text 8"/>
          <p:cNvSpPr/>
          <p:nvPr/>
        </p:nvSpPr>
        <p:spPr>
          <a:xfrm>
            <a:off x="3520440" y="111556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 (30–60 Days)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520440" y="1737360"/>
            <a:ext cx="22860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217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[Action item 1]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217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[Action item 2]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217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[Action item 3]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17920" y="1097280"/>
            <a:ext cx="256032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1097280"/>
            <a:ext cx="2560320" cy="502920"/>
          </a:xfrm>
          <a:prstGeom prst="rect">
            <a:avLst/>
          </a:prstGeom>
          <a:solidFill>
            <a:srgbClr val="1B9B5E"/>
          </a:solidFill>
          <a:ln/>
        </p:spPr>
      </p:sp>
      <p:sp>
        <p:nvSpPr>
          <p:cNvPr id="14" name="Text 12"/>
          <p:cNvSpPr/>
          <p:nvPr/>
        </p:nvSpPr>
        <p:spPr>
          <a:xfrm>
            <a:off x="6355080" y="111556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Medium-Term (60–90 Days)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55080" y="1737360"/>
            <a:ext cx="22860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217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[Action item 1]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217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[Action item 2]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217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[Action item 3]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15200" y="47091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9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E5F5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192024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Keyword Research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3017520"/>
            <a:ext cx="182880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0" y="47091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7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SEED KEYWORDS &amp; SOURCES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1371600" cy="36576"/>
          </a:xfrm>
          <a:prstGeom prst="rect">
            <a:avLst/>
          </a:prstGeom>
          <a:solidFill>
            <a:srgbClr val="1B9B5E"/>
          </a:solidFill>
          <a:ln/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80467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560320"/>
                <a:gridCol w="27432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Keyword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B5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[keyword]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[source]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[notes]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[keyword]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[source]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[notes]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[keyword]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[source]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[notes]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[keyword]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[source]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[notes]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[keyword]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[source]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[notes]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[keyword]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[source]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[notes]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315200" y="47091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7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AHREFS KEYWORD DATA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1371600" cy="36576"/>
          </a:xfrm>
          <a:prstGeom prst="rect">
            <a:avLst/>
          </a:prstGeom>
          <a:solidFill>
            <a:srgbClr val="1B9B5E"/>
          </a:solidFill>
          <a:ln/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85953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822960"/>
                <a:gridCol w="731520"/>
                <a:gridCol w="731520"/>
                <a:gridCol w="1097280"/>
                <a:gridCol w="1737360"/>
                <a:gridCol w="16459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Keyword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Traffic Pot.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Parent Topic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B5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[kw]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[vol]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[kd]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[$]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[tp]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[topic]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[feat]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[kw]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[vol]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[kd]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[$]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[tp]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[topic]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[feat]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[kw]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[vol]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[kd]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[$]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[tp]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[topic]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[feat]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[kw]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[vol]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[kd]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[$]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[tp]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[topic]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[feat]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[kw]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[vol]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[kd]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[$]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[tp]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[topic]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[feat]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315200" y="47091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17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INTENT CLASSIFICATION &amp; FUNNEL MAPPING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1371600" cy="36576"/>
          </a:xfrm>
          <a:prstGeom prst="rect">
            <a:avLst/>
          </a:prstGeom>
          <a:solidFill>
            <a:srgbClr val="1B9B5E"/>
          </a:solidFill>
          <a:ln/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804672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920240"/>
                <a:gridCol w="1920240"/>
                <a:gridCol w="192024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Keyword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Awareness Stage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Funnel Position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 Type Needed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B5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[keyword]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[stage]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[position]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[content type]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[keyword]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[stage]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[position]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[content type]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[keyword]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[stage]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[position]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[content type]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[keyword]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[stage]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[position]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[content type]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[keyword]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[stage]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[position]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[content type]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2514600" y="3383280"/>
            <a:ext cx="4114800" cy="411480"/>
          </a:xfrm>
          <a:prstGeom prst="rect">
            <a:avLst/>
          </a:prstGeom>
          <a:solidFill>
            <a:srgbClr val="E5F5EC"/>
          </a:solidFill>
          <a:ln/>
        </p:spPr>
      </p:sp>
      <p:sp>
        <p:nvSpPr>
          <p:cNvPr id="6" name="Text 3"/>
          <p:cNvSpPr/>
          <p:nvPr/>
        </p:nvSpPr>
        <p:spPr>
          <a:xfrm>
            <a:off x="2514600" y="338328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217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TOFU — Awareness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971800" y="3886200"/>
            <a:ext cx="3200400" cy="411480"/>
          </a:xfrm>
          <a:prstGeom prst="rect">
            <a:avLst/>
          </a:prstGeom>
          <a:solidFill>
            <a:srgbClr val="A8D9BD"/>
          </a:solidFill>
          <a:ln/>
        </p:spPr>
      </p:sp>
      <p:sp>
        <p:nvSpPr>
          <p:cNvPr id="8" name="Text 5"/>
          <p:cNvSpPr/>
          <p:nvPr/>
        </p:nvSpPr>
        <p:spPr>
          <a:xfrm>
            <a:off x="2971800" y="38862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217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MOFU — Consideration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429000" y="4389120"/>
            <a:ext cx="2286000" cy="411480"/>
          </a:xfrm>
          <a:prstGeom prst="rect">
            <a:avLst/>
          </a:prstGeom>
          <a:solidFill>
            <a:srgbClr val="1B9B5E"/>
          </a:solidFill>
          <a:ln/>
        </p:spPr>
      </p:sp>
      <p:sp>
        <p:nvSpPr>
          <p:cNvPr id="10" name="Text 7"/>
          <p:cNvSpPr/>
          <p:nvPr/>
        </p:nvSpPr>
        <p:spPr>
          <a:xfrm>
            <a:off x="3429000" y="43891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BOFU — Decision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315200" y="47091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9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E5F5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192024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Competitive Analysis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3017520"/>
            <a:ext cx="182880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0" y="47091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7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COMPETITOR OVERVIEW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1371600" cy="36576"/>
          </a:xfrm>
          <a:prstGeom prst="rect">
            <a:avLst/>
          </a:prstGeom>
          <a:solidFill>
            <a:srgbClr val="1B9B5E"/>
          </a:solidFill>
          <a:ln/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05840"/>
          <a:ext cx="841248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828800"/>
                <a:gridCol w="1280160"/>
                <a:gridCol w="1097280"/>
                <a:gridCol w="25603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Competitor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Est. Traffic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 Rating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Differentiator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B5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[name]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[url]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[traffic]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[DR]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[differentiator]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[name]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[url]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[traffic]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[DR]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[differentiator]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[name]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[url]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[traffic]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[DR]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[differentiator]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[name]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[url]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[traffic]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[DR]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[differentiator]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[name]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[url]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[traffic]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[DR]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[differentiator]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315200" y="47091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18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7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KEYWORD GAP ANALYSIS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1371600" cy="36576"/>
          </a:xfrm>
          <a:prstGeom prst="rect">
            <a:avLst/>
          </a:prstGeom>
          <a:solidFill>
            <a:srgbClr val="1B9B5E"/>
          </a:solidFill>
          <a:ln/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85953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822960"/>
                <a:gridCol w="731520"/>
                <a:gridCol w="1005840"/>
                <a:gridCol w="1005840"/>
                <a:gridCol w="1005840"/>
                <a:gridCol w="201168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Keyword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Your Rank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Comp. 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Comp. 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Opportunity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B5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[kw]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[vol]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[kd]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[rank]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[rank]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[rank]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[note]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[kw]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[vol]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[kd]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[rank]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[rank]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[rank]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[note]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[kw]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[vol]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[kd]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[rank]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[rank]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[rank]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[note]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[kw]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[vol]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[kd]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[rank]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[rank]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[rank]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[note]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[kw]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[vol]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[kd]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[rank]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[rank]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[rank]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[note]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315200" y="47091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18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7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CONTENT STRATEGY — TOPIC FOCUS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1371600" cy="36576"/>
          </a:xfrm>
          <a:prstGeom prst="rect">
            <a:avLst/>
          </a:prstGeom>
          <a:solidFill>
            <a:srgbClr val="1B9B5E"/>
          </a:solidFill>
          <a:ln/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804672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011680"/>
                <a:gridCol w="2560320"/>
                <a:gridCol w="128016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 Cluster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Keyword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 Gap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B5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[cluster]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[keyword]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[gap description]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[H/M/L]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[cluster]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[keyword]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[gap description]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[H/M/L]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[cluster]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[keyword]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[gap description]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[H/M/L]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[cluster]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[keyword]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[gap description]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[H/M/L]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[cluster]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[keyword]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[gap description]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[H/M/L]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315200" y="47091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18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17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BACKLINK PROFILE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548640" y="749808"/>
            <a:ext cx="1097280" cy="36576"/>
          </a:xfrm>
          <a:prstGeom prst="rect">
            <a:avLst/>
          </a:prstGeom>
          <a:solidFill>
            <a:srgbClr val="1B9B5E"/>
          </a:solidFill>
          <a:ln/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960120"/>
          <a:ext cx="804672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280160"/>
                <a:gridCol w="1463040"/>
                <a:gridCol w="914400"/>
                <a:gridCol w="292608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Competitor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Backlinks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Ref. Domains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Link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B5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[name]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[count]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[domains]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[DR]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[top referring]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[name]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[count]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[domains]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[DR]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[top referring]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[name]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[count]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[domains]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[DR]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[top referring]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2468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17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TRAFFIC SOURCES &amp; CHANNELS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548640" y="2926080"/>
            <a:ext cx="1097280" cy="36576"/>
          </a:xfrm>
          <a:prstGeom prst="rect">
            <a:avLst/>
          </a:prstGeom>
          <a:solidFill>
            <a:srgbClr val="1B9B5E"/>
          </a:solidFill>
          <a:ln/>
        </p:spPr>
      </p:sp>
      <p:graphicFrame>
        <p:nvGraphicFramePr>
          <p:cNvPr id="2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108960"/>
          <a:ext cx="85953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005840"/>
                <a:gridCol w="1005840"/>
                <a:gridCol w="1005840"/>
                <a:gridCol w="1005840"/>
                <a:gridCol w="1097280"/>
                <a:gridCol w="1005840"/>
                <a:gridCol w="100584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Competitor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Organic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Social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Referral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Display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B5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[name]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[name]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[name]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7315200" y="47091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18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7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AUDIENCE INSIGHTS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1371600" cy="36576"/>
          </a:xfrm>
          <a:prstGeom prst="rect">
            <a:avLst/>
          </a:prstGeom>
          <a:solidFill>
            <a:srgbClr val="1B9B5E"/>
          </a:solidFill>
          <a:ln/>
        </p:spPr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85953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645920"/>
                <a:gridCol w="1188720"/>
                <a:gridCol w="1188720"/>
                <a:gridCol w="1645920"/>
                <a:gridCol w="155448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Competitor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Audience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Gender Split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 Range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 Focus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Split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B5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[name]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[audience]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[M/F 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[ages]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[countries]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[desktop/mobile]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[name]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[audience]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[M/F 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[ages]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[countries]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[desktop/mobile]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[name]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[audience]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[M/F 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[ages]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[countries]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[desktop/mobile]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23774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17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AUDIENCE INTERESTS &amp; CROSS-VISITATION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548640" y="2834640"/>
            <a:ext cx="1097280" cy="36576"/>
          </a:xfrm>
          <a:prstGeom prst="rect">
            <a:avLst/>
          </a:prstGeom>
          <a:solidFill>
            <a:srgbClr val="1B9B5E"/>
          </a:solidFill>
          <a:ln/>
        </p:spPr>
      </p:sp>
      <p:graphicFrame>
        <p:nvGraphicFramePr>
          <p:cNvPr id="3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017520"/>
          <a:ext cx="80467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286000"/>
                <a:gridCol w="2743200"/>
                <a:gridCol w="13716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Competitor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Interests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Cross-Visited Sites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Affinity Score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B5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[name]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[interests]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[sites]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[score]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[name]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[interests]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[sites]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[score]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[name]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[interests]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[sites]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[score]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7315200" y="47091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18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7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SOCIAL &amp; DIGITAL PRESENCE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1371600" cy="36576"/>
          </a:xfrm>
          <a:prstGeom prst="rect">
            <a:avLst/>
          </a:prstGeom>
          <a:solidFill>
            <a:srgbClr val="1B9B5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9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Traffic Distribution</a:t>
            </a:r>
            <a:endParaRPr lang="en-US" sz="13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188720"/>
          <a:ext cx="85953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188720"/>
                <a:gridCol w="1188720"/>
                <a:gridCol w="1188720"/>
                <a:gridCol w="1188720"/>
                <a:gridCol w="1188720"/>
                <a:gridCol w="1188720"/>
              </a:tblGrid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Competitor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Facebook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Instagram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LinkedIn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X/Twitter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YouTube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TikTok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B5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[name]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[name]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2103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9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Social Overview</a:t>
            </a:r>
            <a:endParaRPr lang="en-US" sz="1300" dirty="0"/>
          </a:p>
        </p:txBody>
      </p:sp>
      <p:graphicFrame>
        <p:nvGraphicFramePr>
          <p:cNvPr id="3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377440"/>
          <a:ext cx="859536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188720"/>
                <a:gridCol w="1554480"/>
                <a:gridCol w="1371600"/>
                <a:gridCol w="1828800"/>
                <a:gridCol w="1371600"/>
              </a:tblGrid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Competitor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Est. Spend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Platform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 Format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Audience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CTA Focus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B5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[name]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[$]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[platform]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[format]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[audience]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[cta]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[name]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[$]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[platform]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[format]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[audience]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[cta]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548640" y="3291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9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Social Overview</a:t>
            </a:r>
            <a:endParaRPr lang="en-US" sz="1300" dirty="0"/>
          </a:p>
        </p:txBody>
      </p:sp>
      <p:graphicFrame>
        <p:nvGraphicFramePr>
          <p:cNvPr id="4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3566160"/>
          <a:ext cx="877824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188720"/>
                <a:gridCol w="1097280"/>
                <a:gridCol w="1188720"/>
                <a:gridCol w="1554480"/>
                <a:gridCol w="1188720"/>
                <a:gridCol w="1371600"/>
              </a:tblGrid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Competitor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Platform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Freq.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Avg. Engage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Content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Followers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Growth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B5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[name]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[platform]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[freq]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[engage]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[type]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[count]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[trend]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[name]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[platform]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[freq]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[engage]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[type]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[count]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[trend]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</a:tr>
            </a:tbl>
          </a:graphicData>
        </a:graphic>
      </p:graphicFrame>
      <p:sp>
        <p:nvSpPr>
          <p:cNvPr id="10" name="Text 5"/>
          <p:cNvSpPr/>
          <p:nvPr/>
        </p:nvSpPr>
        <p:spPr>
          <a:xfrm>
            <a:off x="7315200" y="47091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18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7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 PRESENCE &amp; MESSAGING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1371600" cy="36576"/>
          </a:xfrm>
          <a:prstGeom prst="rect">
            <a:avLst/>
          </a:prstGeom>
          <a:solidFill>
            <a:srgbClr val="1B9B5E"/>
          </a:solidFill>
          <a:ln/>
        </p:spPr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05840"/>
          <a:ext cx="841248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280160"/>
                <a:gridCol w="2560320"/>
                <a:gridCol w="1463040"/>
                <a:gridCol w="16459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Competitor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 Platform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Message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Landing Page Focus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B5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[name]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[platform]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[headline/message]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[cta text]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[LP focus]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[name]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[platform]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[headline/message]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[cta text]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[LP focus]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[name]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[platform]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[headline/message]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[cta text]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[LP focus]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[name]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[platform]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[headline/message]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[cta text]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[LP focus]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[name]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[platform]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[headline/message]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[cta text]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[LP focus]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315200" y="47091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18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217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9B5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METHODOLOGY &amp; DATA SOURCES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868680"/>
            <a:ext cx="1371600" cy="36576"/>
          </a:xfrm>
          <a:prstGeom prst="rect">
            <a:avLst/>
          </a:prstGeom>
          <a:solidFill>
            <a:srgbClr val="1B9B5E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188720"/>
            <a:ext cx="3840480" cy="3108960"/>
          </a:xfrm>
          <a:prstGeom prst="rect">
            <a:avLst/>
          </a:prstGeom>
          <a:solidFill>
            <a:srgbClr val="2F2F2F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2801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EB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Tools Used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1737360"/>
            <a:ext cx="34747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[Tool 1] — [purpose]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[Tool 2] — [purpose]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[Tool 3] — [purpose]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[Tool 4] — [purpose]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3840480" cy="1371600"/>
          </a:xfrm>
          <a:prstGeom prst="rect">
            <a:avLst/>
          </a:prstGeom>
          <a:solidFill>
            <a:srgbClr val="2F2F2F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2801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EB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Collection Period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937760" y="17373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[Start Date] — [End Date]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2743200"/>
            <a:ext cx="3840480" cy="1554480"/>
          </a:xfrm>
          <a:prstGeom prst="rect">
            <a:avLst/>
          </a:prstGeom>
          <a:solidFill>
            <a:srgbClr val="2F2F2F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28346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EB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 &amp; Caveats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937760" y="329184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[Limitation 1]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[Limitation 2]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[Limitation 3]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31520" y="45720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ClearThink Marketing  |  ClearLaunch System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1B9B5E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0" y="47091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18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ClearLaunch B2B Market Research Summary</dc:title>
  <dc:subject>PptxGenJS Presentation</dc:subject>
  <dc:creator>ClearThink Marketing</dc:creator>
  <cp:lastModifiedBy>ClearThink Marketing</cp:lastModifiedBy>
  <cp:revision>1</cp:revision>
  <dcterms:created xsi:type="dcterms:W3CDTF">2026-03-24T04:15:23Z</dcterms:created>
  <dcterms:modified xsi:type="dcterms:W3CDTF">2026-03-24T04:15:23Z</dcterms:modified>
</cp:coreProperties>
</file>