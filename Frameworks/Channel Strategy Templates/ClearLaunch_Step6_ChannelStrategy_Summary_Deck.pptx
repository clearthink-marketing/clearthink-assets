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718"/>
                </a:solidFill>
                <a:latin typeface="Calibri"/>
              </a:defRPr>
            </a:pPr>
            <a:r>
              <a:t>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9B5E"/>
                </a:solidFill>
                <a:latin typeface="Calibri"/>
              </a:defRPr>
            </a:pPr>
            <a:r>
              <a:t>&amp; CUSTOMER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3600"/>
            <a:ext cx="804672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21718"/>
                </a:solidFill>
                <a:latin typeface="Calibri"/>
              </a:defRPr>
            </a:pPr>
            <a:r>
              <a:t>[Client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67000"/>
            <a:ext cx="2286000" cy="254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19400"/>
            <a:ext cx="804672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[Industry Context]  |  [Location]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04672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ClearLaunch System  |  Step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0520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[Date]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[Number] stages from first awareness to [outcome]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96215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962150" cy="5715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5715" y="1295400"/>
            <a:ext cx="508000" cy="508000"/>
          </a:xfrm>
          <a:prstGeom prst="ellipse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9600"/>
            <a:ext cx="196215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EB96"/>
                </a:solidFill>
                <a:latin typeface="Calibri"/>
              </a:defRPr>
            </a:pPr>
            <a:r>
              <a:t>TOFU</a:t>
            </a:r>
            <a:br/>
            <a:r>
              <a:t>(Awareness)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2362200"/>
            <a:ext cx="1809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[Customer mindset at this stage]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" y="29718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" y="3124200"/>
            <a:ext cx="1809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9B5E"/>
                </a:solidFill>
                <a:latin typeface="Calibri"/>
              </a:defRPr>
            </a:pPr>
            <a:r>
              <a:t>[Active channels]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" y="35814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KEY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" y="3733800"/>
            <a:ext cx="180975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[Primary metric]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5390" y="2606040"/>
            <a:ext cx="15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EB9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2390" y="1143000"/>
            <a:ext cx="196215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12390" y="1143000"/>
            <a:ext cx="1962150" cy="5715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39465" y="1295400"/>
            <a:ext cx="508000" cy="5080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2390" y="1879600"/>
            <a:ext cx="196215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9B5E"/>
                </a:solidFill>
                <a:latin typeface="Calibri"/>
              </a:defRPr>
            </a:pPr>
            <a:r>
              <a:t>MOFU</a:t>
            </a:r>
            <a:br/>
            <a:r>
              <a:t>(Consideration)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590" y="2362200"/>
            <a:ext cx="1809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[Customer mindset at this stage]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590" y="29718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590" y="3124200"/>
            <a:ext cx="1809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9B5E"/>
                </a:solidFill>
                <a:latin typeface="Calibri"/>
              </a:defRPr>
            </a:pPr>
            <a:r>
              <a:t>[Active channels]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590" y="35814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KEY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590" y="3733800"/>
            <a:ext cx="180975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[Primary metric]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40" y="2606040"/>
            <a:ext cx="15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EB9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76140" y="1143000"/>
            <a:ext cx="196215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6140" y="1143000"/>
            <a:ext cx="1962150" cy="57150"/>
          </a:xfrm>
          <a:prstGeom prst="rect">
            <a:avLst/>
          </a:prstGeom>
          <a:solidFill>
            <a:srgbClr val="15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03215" y="1295400"/>
            <a:ext cx="508000" cy="508000"/>
          </a:xfrm>
          <a:prstGeom prst="ellipse">
            <a:avLst/>
          </a:prstGeom>
          <a:solidFill>
            <a:srgbClr val="15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6140" y="1879600"/>
            <a:ext cx="196215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57A49"/>
                </a:solidFill>
                <a:latin typeface="Calibri"/>
              </a:defRPr>
            </a:pPr>
            <a:r>
              <a:t>BOFU</a:t>
            </a:r>
            <a:br/>
            <a:r>
              <a:t>(Decision)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2340" y="2362200"/>
            <a:ext cx="1809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[Customer mindset at this stage]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340" y="29718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2340" y="3124200"/>
            <a:ext cx="1809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9B5E"/>
                </a:solidFill>
                <a:latin typeface="Calibri"/>
              </a:defRPr>
            </a:pPr>
            <a:r>
              <a:t>[Active channels]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2340" y="35814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KEY KPI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2340" y="3733800"/>
            <a:ext cx="180975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[Primary metric]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2890" y="2606040"/>
            <a:ext cx="15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EB9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39890" y="1143000"/>
            <a:ext cx="196215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39890" y="1143000"/>
            <a:ext cx="1962150" cy="5715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66965" y="1295400"/>
            <a:ext cx="508000" cy="508000"/>
          </a:xfrm>
          <a:prstGeom prst="ellipse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890" y="1879600"/>
            <a:ext cx="196215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718"/>
                </a:solidFill>
                <a:latin typeface="Calibri"/>
              </a:defRPr>
            </a:pPr>
            <a:r>
              <a:t>PURCHASE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6090" y="2362200"/>
            <a:ext cx="1809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[Customer mindset at this stage]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6090" y="29718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6090" y="3124200"/>
            <a:ext cx="18097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9B5E"/>
                </a:solidFill>
                <a:latin typeface="Calibri"/>
              </a:defRPr>
            </a:pPr>
            <a:r>
              <a:t>[Active channels]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6090" y="3581400"/>
            <a:ext cx="180975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Calibri"/>
              </a:defRPr>
            </a:pPr>
            <a:r>
              <a:t>KEY KPI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6090" y="3733800"/>
            <a:ext cx="180975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21718"/>
                </a:solidFill>
                <a:latin typeface="Calibri"/>
              </a:defRPr>
            </a:pPr>
            <a:r>
              <a:t>[Primary metric]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CHANNEL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7 channels evaluated against [Client Name]'s ICP, budget, and data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716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1430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Traffic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016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9240" y="1143000"/>
            <a:ext cx="9144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Data Avail.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3640" y="1143000"/>
            <a:ext cx="762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ICP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55640" y="11430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47800"/>
            <a:ext cx="1371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447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Paid / 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47800"/>
            <a:ext cx="1016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MOFU-BOFU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79240" y="1447800"/>
            <a:ext cx="9144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3640" y="1447800"/>
            <a:ext cx="762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5640" y="1447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701800"/>
            <a:ext cx="13716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Meta 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701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Paid / Interrupt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701800"/>
            <a:ext cx="1016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TOFU-MOFU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79240" y="1701800"/>
            <a:ext cx="914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3640" y="1701800"/>
            <a:ext cx="762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5640" y="1701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955800"/>
            <a:ext cx="1371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LinkedIn 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1955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Paid / Prof.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55800"/>
            <a:ext cx="1016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TOFU-MOFU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9240" y="1955800"/>
            <a:ext cx="9144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3640" y="1955800"/>
            <a:ext cx="762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55640" y="1955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209800"/>
            <a:ext cx="13716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209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Paid / Interrupt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209800"/>
            <a:ext cx="1016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79240" y="2209800"/>
            <a:ext cx="914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3640" y="2209800"/>
            <a:ext cx="762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55640" y="2209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463800"/>
            <a:ext cx="1371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2463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Organic / Intent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463800"/>
            <a:ext cx="1016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TOFU-BOFU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79240" y="2463800"/>
            <a:ext cx="9144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93640" y="2463800"/>
            <a:ext cx="762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55640" y="2463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2717800"/>
            <a:ext cx="13716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Content Mktg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2717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Organic / Edu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717800"/>
            <a:ext cx="1016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TOFU-MOFU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79240" y="2717800"/>
            <a:ext cx="914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93640" y="2717800"/>
            <a:ext cx="762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55640" y="27178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2971800"/>
            <a:ext cx="1371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Organic Social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2971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Organic / Comm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971800"/>
            <a:ext cx="1016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TOFU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79240" y="2971800"/>
            <a:ext cx="9144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3640" y="2971800"/>
            <a:ext cx="762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[score]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55640" y="29718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[tier]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657600"/>
            <a:ext cx="8046720" cy="10668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1040" y="3733800"/>
            <a:ext cx="774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9B5E"/>
                </a:solidFill>
                <a:latin typeface="Calibri"/>
              </a:defRPr>
            </a:pPr>
            <a:r>
              <a:t>DECISION RULES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040" y="3962400"/>
            <a:ext cx="774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1. ICP Presence Gate — [rationale]</a:t>
            </a:r>
            <a:br/>
            <a:r>
              <a:t>2. Budget Viability Gate — [rationale]</a:t>
            </a:r>
            <a:br/>
            <a:r>
              <a:t>3. Journey Coverage Check — [rationale]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CHANNEL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[N] primary channels + [N] supporting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8046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68400"/>
            <a:ext cx="50800" cy="863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140" y="1219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B9B5E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140" y="1397000"/>
            <a:ext cx="7665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1718"/>
                </a:solidFill>
                <a:latin typeface="Calibri"/>
              </a:rPr>
              <a:t>[Primary Channel 1]</a:t>
            </a:r>
            <a:r>
              <a:rPr sz="1600" i="1">
                <a:solidFill>
                  <a:srgbClr val="1B9B5E"/>
                </a:solidFill>
                <a:latin typeface="Calibri"/>
              </a:rPr>
              <a:t>  —  [Role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140" y="1701800"/>
            <a:ext cx="7665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Calibri"/>
              </a:defRPr>
            </a:pPr>
            <a:r>
              <a:t>[2-3 sentences explaining channel role and funnel stages served]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59000"/>
            <a:ext cx="8046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84400"/>
            <a:ext cx="50800" cy="863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140" y="2235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B9B5E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" y="2413000"/>
            <a:ext cx="7665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1718"/>
                </a:solidFill>
                <a:latin typeface="Calibri"/>
              </a:rPr>
              <a:t>[Primary Channel 2]</a:t>
            </a:r>
            <a:r>
              <a:rPr sz="1600" i="1">
                <a:solidFill>
                  <a:srgbClr val="1B9B5E"/>
                </a:solidFill>
                <a:latin typeface="Calibri"/>
              </a:rPr>
              <a:t>  —  [Role Title]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40" y="2717800"/>
            <a:ext cx="7665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Calibri"/>
              </a:defRPr>
            </a:pPr>
            <a:r>
              <a:t>[2-3 sentences explaining channel role and funnel stages served]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75000"/>
            <a:ext cx="8046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50800" cy="863600"/>
          </a:xfrm>
          <a:prstGeom prst="rect">
            <a:avLst/>
          </a:prstGeom>
          <a:solidFill>
            <a:srgbClr val="D48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140" y="3251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D4880F"/>
                </a:solidFill>
                <a:latin typeface="Calibri"/>
              </a:defRPr>
            </a:pPr>
            <a:r>
              <a:t>SUPPORTING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40" y="3429000"/>
            <a:ext cx="7665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1718"/>
                </a:solidFill>
                <a:latin typeface="Calibri"/>
              </a:rPr>
              <a:t>[Supporting Channel]</a:t>
            </a:r>
            <a:r>
              <a:rPr sz="1600" i="1">
                <a:solidFill>
                  <a:srgbClr val="D4880F"/>
                </a:solidFill>
                <a:latin typeface="Calibri"/>
              </a:rPr>
              <a:t>  —  [Role Title]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140" y="3733800"/>
            <a:ext cx="7665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Calibri"/>
              </a:defRPr>
            </a:pPr>
            <a:r>
              <a:t>[2-3 sentences explaining channel role and why supporting vs primary]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INVESTMENT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Retainers are fixed. Ad spend is the control variable.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61493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5400"/>
            <a:ext cx="261493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B9B5E"/>
                </a:solidFill>
                <a:latin typeface="Calibri"/>
              </a:defRPr>
            </a:pPr>
            <a:r>
              <a:t>[retainer total]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18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1718"/>
                </a:solidFill>
                <a:latin typeface="Calibri"/>
              </a:defRPr>
            </a:pPr>
            <a:r>
              <a:t>Monthly Retainers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04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Calibri"/>
              </a:defRPr>
            </a:pPr>
            <a:r>
              <a:t>Fixed across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5170" y="1143000"/>
            <a:ext cx="261493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5170" y="1295400"/>
            <a:ext cx="261493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B9B5E"/>
                </a:solidFill>
                <a:latin typeface="Calibri"/>
              </a:defRPr>
            </a:pPr>
            <a:r>
              <a:t>[ad spend total]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5170" y="17018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1718"/>
                </a:solidFill>
                <a:latin typeface="Calibri"/>
              </a:defRPr>
            </a:pPr>
            <a:r>
              <a:t>Monthly Ad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5170" y="19304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Calibri"/>
              </a:defRPr>
            </a:pPr>
            <a:r>
              <a:t>Adjustable control variable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1700" y="1143000"/>
            <a:ext cx="2614930" cy="1143000"/>
          </a:xfrm>
          <a:prstGeom prst="roundRect">
            <a:avLst/>
          </a:prstGeom>
          <a:solidFill>
            <a:srgbClr val="121718"/>
          </a:solidFill>
          <a:ln w="6350">
            <a:solidFill>
              <a:srgbClr val="121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1700" y="1295400"/>
            <a:ext cx="261493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EB96"/>
                </a:solidFill>
                <a:latin typeface="Calibri"/>
              </a:defRPr>
            </a:pPr>
            <a:r>
              <a:t>[grand total]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1700" y="17018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1700" y="1930400"/>
            <a:ext cx="26149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Calibri"/>
              </a:defRPr>
            </a:pPr>
            <a:r>
              <a:t>All-in investment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21336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82240" y="2514600"/>
            <a:ext cx="1524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Retainer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514600"/>
            <a:ext cx="1524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Ad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30240" y="2514600"/>
            <a:ext cx="1524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19400"/>
            <a:ext cx="2133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[Channel 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82240" y="2819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819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0240" y="2819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73400"/>
            <a:ext cx="21336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[Channel 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82240" y="3073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073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30240" y="3073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327400"/>
            <a:ext cx="21336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[Channel 3]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82240" y="3327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27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0240" y="3327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PROJECTIONS: [DATA-BACKED CHANNEL]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50000"/>
            <a:ext cx="2194560" cy="254000"/>
          </a:xfrm>
          <a:prstGeom prst="round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DATA-BACKED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Built from real keyword data (Step 3 Market Research)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524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2640" y="13716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[Line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5640" y="13716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[Line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76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Monthly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2640" y="1676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5640" y="1676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0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Avg CPC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2640" y="1930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5640" y="1930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84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Monthly Clicks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2640" y="2184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5640" y="2184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38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Conv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2640" y="2438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5640" y="2438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92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Monthly Leads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2640" y="2692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5640" y="2692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46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Close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2640" y="2946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5640" y="2946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200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New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2640" y="3200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5640" y="3200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54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2640" y="3454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5640" y="3454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08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Ad Spend ROAS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2640" y="3708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5640" y="3708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62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Profit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2640" y="3962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5640" y="3962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371600"/>
            <a:ext cx="2926080" cy="3291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5840" y="14732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9B5E"/>
                </a:solidFill>
                <a:latin typeface="Calibri"/>
              </a:defRPr>
            </a:pPr>
            <a:r>
              <a:t>COMBINED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5840" y="17780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[total revenue]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5840" y="20320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Monthly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5840" y="23114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[total clients]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5840" y="25654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New Clients/Month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5840" y="28448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[true ROAS]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5840" y="30988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True ROAS (incl. retainer)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5840" y="33782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[CPA]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5840" y="36322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Cost Per Acquisition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5840" y="39116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[margin]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5840" y="41656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PROJECTIONS: [MODELED CHANNEL]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50000"/>
            <a:ext cx="2194560" cy="254000"/>
          </a:xfrm>
          <a:prstGeom prst="roundRect">
            <a:avLst/>
          </a:prstGeom>
          <a:solidFill>
            <a:srgbClr val="D48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MODELED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Built from industry CPM/CTR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524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2640" y="13716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[Line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5640" y="1371600"/>
            <a:ext cx="1143000" cy="3048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[Line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76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Monthly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2640" y="1676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5640" y="1676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0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2640" y="1930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5640" y="1930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[amount]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84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CTR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2640" y="2184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5640" y="2184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38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Impressions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2640" y="2438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5640" y="2438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92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Clicks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2640" y="2692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5640" y="2692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46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Conv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2640" y="2946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5640" y="2946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[rate]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200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Leads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2640" y="3200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5640" y="3200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54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New Clients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72640" y="3454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5640" y="3454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08400"/>
            <a:ext cx="1524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2640" y="3708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5640" y="3708400"/>
            <a:ext cx="1143000" cy="254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62400"/>
            <a:ext cx="152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Ad Spend ROAS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2640" y="3962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5640" y="3962400"/>
            <a:ext cx="1143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50800" wrap="square"/>
          <a:lstStyle/>
          <a:p>
            <a:pPr algn="ctr">
              <a:defRPr sz="800">
                <a:solidFill>
                  <a:srgbClr val="121718"/>
                </a:solidFill>
                <a:latin typeface="Calibri"/>
              </a:defRPr>
            </a:pPr>
            <a:r>
              <a:t>[calc]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371600"/>
            <a:ext cx="2926080" cy="3291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5840" y="14732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880F"/>
                </a:solidFill>
                <a:latin typeface="Calibri"/>
              </a:defRPr>
            </a:pPr>
            <a:r>
              <a:t>COMBINED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5840" y="17780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[total revenue]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5840" y="20320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Monthly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5840" y="23114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[total clients]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5840" y="25654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New Clients/Month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5840" y="28448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[true ROAS]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5840" y="30988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True ROAS (incl. retainer)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5840" y="33782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[CPA]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5840" y="36322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Cost Per Acquisition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5840" y="3911600"/>
            <a:ext cx="262128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718"/>
                </a:solidFill>
                <a:latin typeface="Calibri"/>
              </a:defRPr>
            </a:pPr>
            <a:r>
              <a:t>[margin]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5840" y="4165600"/>
            <a:ext cx="262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648200"/>
            <a:ext cx="804672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6666"/>
                </a:solidFill>
                <a:latin typeface="Calibri"/>
              </a:defRPr>
            </a:pPr>
            <a:r>
              <a:t>Benchmarks: [Source 1], [Source 2], [Source 3]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BEB96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Calibri"/>
              </a:defRPr>
            </a:pPr>
            <a:r>
              <a:t>ClearLaunch Step 6  |  [Client Name]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10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286000" cy="25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81100"/>
            <a:ext cx="228600" cy="2286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640" y="11430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BBBBB"/>
                </a:solidFill>
                <a:latin typeface="Calibri"/>
              </a:defRPr>
            </a:pPr>
            <a:r>
              <a:t>[Primary channel role and why it's the foundation]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14500"/>
            <a:ext cx="228600" cy="2286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640" y="16764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BBBBB"/>
                </a:solidFill>
                <a:latin typeface="Calibri"/>
              </a:defRPr>
            </a:pPr>
            <a:r>
              <a:t>[Secondary channel role and how it complements]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47900"/>
            <a:ext cx="228600" cy="2286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22098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BBBBB"/>
                </a:solidFill>
                <a:latin typeface="Calibri"/>
              </a:defRPr>
            </a:pPr>
            <a:r>
              <a:t>[Supporting channel for demand generation]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81300"/>
            <a:ext cx="228600" cy="2286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640" y="27432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BBBBB"/>
                </a:solidFill>
                <a:latin typeface="Calibri"/>
              </a:defRPr>
            </a:pPr>
            <a:r>
              <a:t>[How the funnel architecture works across channels]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14700"/>
            <a:ext cx="228600" cy="228600"/>
          </a:xfrm>
          <a:prstGeom prst="ellipse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640" y="32766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BBBBB"/>
                </a:solidFill>
                <a:latin typeface="Calibri"/>
              </a:defRPr>
            </a:pPr>
            <a:r>
              <a:t>[Budget control lever and scaling strategy]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8046720" cy="762000"/>
          </a:xfrm>
          <a:prstGeom prst="roundRect">
            <a:avLst/>
          </a:prstGeom>
          <a:solidFill>
            <a:srgbClr val="1E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40" y="3962400"/>
            <a:ext cx="774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NEXT: STEP 7 — SUCCESS METRICS &amp; LAUNCH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" y="4216400"/>
            <a:ext cx="7741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alibri"/>
              </a:defRPr>
            </a:pPr>
            <a:r>
              <a:t>Step 6 answered: "Where should we show up, and what should we expect?"</a:t>
            </a:r>
            <a:br/>
            <a:r>
              <a:t>Step 7 will answer: "How do we execute, in what order, and how do we know it's working?"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3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CLEARTHINK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0000" y="4892040"/>
            <a:ext cx="3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Calibri"/>
              </a:defRPr>
            </a:pPr>
            <a:r>
              <a:t>clearthinkmarketing.com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